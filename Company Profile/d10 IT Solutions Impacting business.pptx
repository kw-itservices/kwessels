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4"/>
  </p:sldMasterIdLst>
  <p:notesMasterIdLst>
    <p:notesMasterId r:id="rId21"/>
  </p:notesMasterIdLst>
  <p:handoutMasterIdLst>
    <p:handoutMasterId r:id="rId22"/>
  </p:handoutMasterIdLst>
  <p:sldIdLst>
    <p:sldId id="1497" r:id="rId5"/>
    <p:sldId id="1498" r:id="rId6"/>
    <p:sldId id="1499" r:id="rId7"/>
    <p:sldId id="1514" r:id="rId8"/>
    <p:sldId id="1500" r:id="rId9"/>
    <p:sldId id="1510" r:id="rId10"/>
    <p:sldId id="1515" r:id="rId11"/>
    <p:sldId id="1506" r:id="rId12"/>
    <p:sldId id="1521" r:id="rId13"/>
    <p:sldId id="1520" r:id="rId14"/>
    <p:sldId id="1517" r:id="rId15"/>
    <p:sldId id="1516" r:id="rId16"/>
    <p:sldId id="1504" r:id="rId17"/>
    <p:sldId id="290" r:id="rId18"/>
    <p:sldId id="1513" r:id="rId19"/>
    <p:sldId id="151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471F2E-E011-F521-299E-65FC243E7E5E}" name="David Salaguinto" initials="DS" userId="S::davidsa@microsoft.com::9399e6ad-b974-43d0-b593-8c2804f84e0d" providerId="AD"/>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9D005A-EF78-4DC8-A9B0-7B54127FABB3}" type="doc">
      <dgm:prSet loTypeId="urn:microsoft.com/office/officeart/2024/3/layout/ArchList1#26" loCatId="list" qsTypeId="urn:microsoft.com/office/officeart/2005/8/quickstyle/simple1" qsCatId="simple" csTypeId="urn:microsoft.com/office/officeart/2005/8/colors/accent1_2" csCatId="accent1" phldr="1"/>
      <dgm:spPr/>
      <dgm:t>
        <a:bodyPr/>
        <a:lstStyle/>
        <a:p>
          <a:endParaRPr lang="en-US"/>
        </a:p>
      </dgm:t>
    </dgm:pt>
    <dgm:pt modelId="{5C6C0E93-31C2-4367-9734-22A77E91F852}">
      <dgm:prSet phldrT="[Text]" custT="1"/>
      <dgm:spPr/>
      <dgm:t>
        <a:bodyPr/>
        <a:lstStyle/>
        <a:p>
          <a:pPr>
            <a:lnSpc>
              <a:spcPct val="100000"/>
            </a:lnSpc>
            <a:defRPr b="1"/>
          </a:pPr>
          <a:r>
            <a:rPr lang="en-US" sz="1700" b="1" dirty="0">
              <a:solidFill>
                <a:schemeClr val="tx1"/>
              </a:solidFill>
            </a:rPr>
            <a:t>Proven results</a:t>
          </a:r>
          <a:endParaRPr lang="en-US" sz="1700" dirty="0">
            <a:solidFill>
              <a:schemeClr val="tx1"/>
            </a:solidFill>
          </a:endParaRPr>
        </a:p>
      </dgm:t>
    </dgm:pt>
    <dgm:pt modelId="{8C6185DB-C15F-4142-9FFC-06798EBB4FD3}" type="parTrans" cxnId="{380048F8-519C-4DF3-983E-65F199CAF07C}">
      <dgm:prSet/>
      <dgm:spPr/>
      <dgm:t>
        <a:bodyPr/>
        <a:lstStyle/>
        <a:p>
          <a:endParaRPr lang="en-US" sz="1700">
            <a:solidFill>
              <a:schemeClr val="tx1"/>
            </a:solidFill>
          </a:endParaRPr>
        </a:p>
      </dgm:t>
    </dgm:pt>
    <dgm:pt modelId="{57C15597-8730-4C5E-950A-E3E94A8A5729}" type="sibTrans" cxnId="{380048F8-519C-4DF3-983E-65F199CAF07C}">
      <dgm:prSet/>
      <dgm:spPr/>
      <dgm:t>
        <a:bodyPr/>
        <a:lstStyle/>
        <a:p>
          <a:pPr>
            <a:lnSpc>
              <a:spcPct val="100000"/>
            </a:lnSpc>
            <a:defRPr b="1"/>
          </a:pPr>
          <a:endParaRPr lang="en-US" sz="1700">
            <a:solidFill>
              <a:schemeClr val="tx1"/>
            </a:solidFill>
          </a:endParaRPr>
        </a:p>
      </dgm:t>
    </dgm:pt>
    <dgm:pt modelId="{5DC4A6D3-8F5B-462C-98E5-9DBA04B5F5C0}">
      <dgm:prSet custT="1"/>
      <dgm:spPr/>
      <dgm:t>
        <a:bodyPr/>
        <a:lstStyle/>
        <a:p>
          <a:pPr>
            <a:lnSpc>
              <a:spcPct val="100000"/>
            </a:lnSpc>
          </a:pPr>
          <a:r>
            <a:rPr lang="en-US" sz="1700" dirty="0">
              <a:solidFill>
                <a:schemeClr val="tx1"/>
              </a:solidFill>
            </a:rPr>
            <a:t>We’ve helped hundreds of businesses transform their operations by implementing innovative solutions that streamline processes, enhance productivity, and drive growth.</a:t>
          </a:r>
        </a:p>
      </dgm:t>
    </dgm:pt>
    <dgm:pt modelId="{05AC1DA1-5915-400C-AA8A-59903F7D8430}" type="parTrans" cxnId="{B8CDC488-4F8D-4EF9-86AB-BC5EDA02D830}">
      <dgm:prSet/>
      <dgm:spPr/>
      <dgm:t>
        <a:bodyPr/>
        <a:lstStyle/>
        <a:p>
          <a:endParaRPr lang="en-US" sz="1700">
            <a:solidFill>
              <a:schemeClr val="tx1"/>
            </a:solidFill>
          </a:endParaRPr>
        </a:p>
      </dgm:t>
    </dgm:pt>
    <dgm:pt modelId="{EBE04370-C115-496A-829B-022F025D9929}" type="sibTrans" cxnId="{B8CDC488-4F8D-4EF9-86AB-BC5EDA02D830}">
      <dgm:prSet/>
      <dgm:spPr/>
      <dgm:t>
        <a:bodyPr/>
        <a:lstStyle/>
        <a:p>
          <a:endParaRPr lang="en-US" sz="1700">
            <a:solidFill>
              <a:schemeClr val="tx1"/>
            </a:solidFill>
          </a:endParaRPr>
        </a:p>
      </dgm:t>
    </dgm:pt>
    <dgm:pt modelId="{6683C677-89E1-4E18-8444-F8D0F9174767}">
      <dgm:prSet custT="1"/>
      <dgm:spPr/>
      <dgm:t>
        <a:bodyPr/>
        <a:lstStyle/>
        <a:p>
          <a:pPr>
            <a:lnSpc>
              <a:spcPct val="100000"/>
            </a:lnSpc>
            <a:defRPr b="1"/>
          </a:pPr>
          <a:r>
            <a:rPr lang="en-US" sz="1700" b="1" dirty="0">
              <a:solidFill>
                <a:schemeClr val="tx1"/>
              </a:solidFill>
            </a:rPr>
            <a:t>Tailored approach</a:t>
          </a:r>
          <a:endParaRPr lang="en-US" sz="1700" dirty="0">
            <a:solidFill>
              <a:schemeClr val="tx1"/>
            </a:solidFill>
          </a:endParaRPr>
        </a:p>
      </dgm:t>
    </dgm:pt>
    <dgm:pt modelId="{9096D71F-9713-469B-ACE6-161111FE9A54}" type="parTrans" cxnId="{56C8B87E-0F96-4F20-8345-3069AB024E9E}">
      <dgm:prSet/>
      <dgm:spPr/>
      <dgm:t>
        <a:bodyPr/>
        <a:lstStyle/>
        <a:p>
          <a:endParaRPr lang="en-US" sz="1700">
            <a:solidFill>
              <a:schemeClr val="tx1"/>
            </a:solidFill>
          </a:endParaRPr>
        </a:p>
      </dgm:t>
    </dgm:pt>
    <dgm:pt modelId="{09D8EA0C-EED3-4BB1-8AEF-7CFB760A7162}" type="sibTrans" cxnId="{56C8B87E-0F96-4F20-8345-3069AB024E9E}">
      <dgm:prSet/>
      <dgm:spPr/>
      <dgm:t>
        <a:bodyPr/>
        <a:lstStyle/>
        <a:p>
          <a:pPr>
            <a:lnSpc>
              <a:spcPct val="100000"/>
            </a:lnSpc>
            <a:defRPr b="1"/>
          </a:pPr>
          <a:endParaRPr lang="en-US" sz="1700">
            <a:solidFill>
              <a:schemeClr val="tx1"/>
            </a:solidFill>
          </a:endParaRPr>
        </a:p>
      </dgm:t>
    </dgm:pt>
    <dgm:pt modelId="{56734F44-9D7F-4CFB-9CBD-E0EEABC32D3D}">
      <dgm:prSet custT="1"/>
      <dgm:spPr/>
      <dgm:t>
        <a:bodyPr/>
        <a:lstStyle/>
        <a:p>
          <a:pPr>
            <a:lnSpc>
              <a:spcPct val="100000"/>
            </a:lnSpc>
          </a:pPr>
          <a:r>
            <a:rPr lang="en-US" sz="1700" dirty="0">
              <a:solidFill>
                <a:schemeClr val="tx1"/>
              </a:solidFill>
            </a:rPr>
            <a:t>Our solutions are customized to fit your unique needs, ensuring that you receive the most effective and relevant support for your specific challenges. </a:t>
          </a:r>
        </a:p>
      </dgm:t>
    </dgm:pt>
    <dgm:pt modelId="{A3AD6FCC-E4F5-46B4-B004-A23AC5C6F65B}" type="parTrans" cxnId="{BF038F71-DD3A-456F-94B1-E4A5F6A7590E}">
      <dgm:prSet/>
      <dgm:spPr/>
      <dgm:t>
        <a:bodyPr/>
        <a:lstStyle/>
        <a:p>
          <a:endParaRPr lang="en-US" sz="1700">
            <a:solidFill>
              <a:schemeClr val="tx1"/>
            </a:solidFill>
          </a:endParaRPr>
        </a:p>
      </dgm:t>
    </dgm:pt>
    <dgm:pt modelId="{9C036100-254F-47F6-B01F-1758F7BB772A}" type="sibTrans" cxnId="{BF038F71-DD3A-456F-94B1-E4A5F6A7590E}">
      <dgm:prSet/>
      <dgm:spPr/>
      <dgm:t>
        <a:bodyPr/>
        <a:lstStyle/>
        <a:p>
          <a:endParaRPr lang="en-US" sz="1700">
            <a:solidFill>
              <a:schemeClr val="tx1"/>
            </a:solidFill>
          </a:endParaRPr>
        </a:p>
      </dgm:t>
    </dgm:pt>
    <dgm:pt modelId="{1DD03B1B-225F-4F59-88E9-6E12FADD869B}">
      <dgm:prSet custT="1"/>
      <dgm:spPr/>
      <dgm:t>
        <a:bodyPr/>
        <a:lstStyle/>
        <a:p>
          <a:pPr>
            <a:lnSpc>
              <a:spcPct val="100000"/>
            </a:lnSpc>
            <a:defRPr b="1"/>
          </a:pPr>
          <a:r>
            <a:rPr lang="en-US" sz="1700" b="1" dirty="0">
              <a:solidFill>
                <a:schemeClr val="tx1"/>
              </a:solidFill>
            </a:rPr>
            <a:t>Unmatched support</a:t>
          </a:r>
          <a:endParaRPr lang="en-US" sz="1700" dirty="0">
            <a:solidFill>
              <a:schemeClr val="tx1"/>
            </a:solidFill>
          </a:endParaRPr>
        </a:p>
      </dgm:t>
    </dgm:pt>
    <dgm:pt modelId="{FE2FFDD7-EC33-4C15-918C-5DE14D4351F6}" type="parTrans" cxnId="{3651E0FD-E66F-4F72-99C5-BD809EC3C96C}">
      <dgm:prSet/>
      <dgm:spPr/>
      <dgm:t>
        <a:bodyPr/>
        <a:lstStyle/>
        <a:p>
          <a:endParaRPr lang="en-US" sz="1700">
            <a:solidFill>
              <a:schemeClr val="tx1"/>
            </a:solidFill>
          </a:endParaRPr>
        </a:p>
      </dgm:t>
    </dgm:pt>
    <dgm:pt modelId="{36F1427C-26E2-4129-AD15-F3263C896B71}" type="sibTrans" cxnId="{3651E0FD-E66F-4F72-99C5-BD809EC3C96C}">
      <dgm:prSet/>
      <dgm:spPr/>
      <dgm:t>
        <a:bodyPr/>
        <a:lstStyle/>
        <a:p>
          <a:endParaRPr lang="en-US" sz="1700">
            <a:solidFill>
              <a:schemeClr val="tx1"/>
            </a:solidFill>
          </a:endParaRPr>
        </a:p>
      </dgm:t>
    </dgm:pt>
    <dgm:pt modelId="{F6C60737-054A-4D4C-890B-C348D450576A}">
      <dgm:prSet custT="1"/>
      <dgm:spPr/>
      <dgm:t>
        <a:bodyPr/>
        <a:lstStyle/>
        <a:p>
          <a:pPr>
            <a:lnSpc>
              <a:spcPct val="100000"/>
            </a:lnSpc>
          </a:pPr>
          <a:r>
            <a:rPr lang="en-US" sz="1700" dirty="0">
              <a:solidFill>
                <a:schemeClr val="tx1"/>
              </a:solidFill>
            </a:rPr>
            <a:t>We offer ongoing guidance to ensure long-term success, providing you with the tools, resources, and expertise needed to navigate any challenges that may arise.</a:t>
          </a:r>
        </a:p>
      </dgm:t>
    </dgm:pt>
    <dgm:pt modelId="{AD74D646-4FE6-49CB-B06E-B0BEE753FD5B}" type="parTrans" cxnId="{6193C484-8ABE-4C8E-BC1B-11825138E8E6}">
      <dgm:prSet/>
      <dgm:spPr/>
      <dgm:t>
        <a:bodyPr/>
        <a:lstStyle/>
        <a:p>
          <a:endParaRPr lang="en-US" sz="1700">
            <a:solidFill>
              <a:schemeClr val="tx1"/>
            </a:solidFill>
          </a:endParaRPr>
        </a:p>
      </dgm:t>
    </dgm:pt>
    <dgm:pt modelId="{33DDF299-F25D-43EA-B386-54F6148ECB5B}" type="sibTrans" cxnId="{6193C484-8ABE-4C8E-BC1B-11825138E8E6}">
      <dgm:prSet/>
      <dgm:spPr/>
      <dgm:t>
        <a:bodyPr/>
        <a:lstStyle/>
        <a:p>
          <a:endParaRPr lang="en-US" sz="1700">
            <a:solidFill>
              <a:schemeClr val="tx1"/>
            </a:solidFill>
          </a:endParaRPr>
        </a:p>
      </dgm:t>
    </dgm:pt>
    <dgm:pt modelId="{439189D0-7625-4BFC-AE7F-D155DAEB60E0}" type="pres">
      <dgm:prSet presAssocID="{F79D005A-EF78-4DC8-A9B0-7B54127FABB3}" presName="Name0" presStyleCnt="0">
        <dgm:presLayoutVars>
          <dgm:dir/>
          <dgm:resizeHandles val="exact"/>
        </dgm:presLayoutVars>
      </dgm:prSet>
      <dgm:spPr/>
    </dgm:pt>
    <dgm:pt modelId="{427D038D-8874-450F-AD39-DCA5940C79C2}" type="pres">
      <dgm:prSet presAssocID="{5C6C0E93-31C2-4367-9734-22A77E91F852}" presName="compNode" presStyleCnt="0"/>
      <dgm:spPr/>
    </dgm:pt>
    <dgm:pt modelId="{C046629B-369E-4F2D-9BA1-5E3C2DFD91CF}" type="pres">
      <dgm:prSet presAssocID="{5C6C0E93-31C2-4367-9734-22A77E91F852}" presName="pictRect" presStyleLbl="revTx" presStyleIdx="0" presStyleCnt="6" custScaleY="172121">
        <dgm:presLayoutVars>
          <dgm:chMax val="0"/>
          <dgm:bulletEnabled/>
        </dgm:presLayoutVars>
      </dgm:prSet>
      <dgm:spPr/>
    </dgm:pt>
    <dgm:pt modelId="{922F7867-BAA8-4280-885B-E9A3B540D23F}" type="pres">
      <dgm:prSet presAssocID="{5C6C0E93-31C2-4367-9734-22A77E91F852}" presName="textRect" presStyleLbl="revTx" presStyleIdx="1" presStyleCnt="6">
        <dgm:presLayoutVars>
          <dgm:bulletEnabled/>
        </dgm:presLayoutVars>
      </dgm:prSet>
      <dgm:spPr/>
    </dgm:pt>
    <dgm:pt modelId="{5B9D68AB-F95F-4888-AF28-C7B8CC572246}" type="pres">
      <dgm:prSet presAssocID="{57C15597-8730-4C5E-950A-E3E94A8A5729}" presName="sibTrans" presStyleLbl="sibTrans2D1" presStyleIdx="0" presStyleCnt="0"/>
      <dgm:spPr/>
    </dgm:pt>
    <dgm:pt modelId="{48C5B127-2DFE-4CE5-9384-32D732EE91F1}" type="pres">
      <dgm:prSet presAssocID="{6683C677-89E1-4E18-8444-F8D0F9174767}" presName="compNode" presStyleCnt="0"/>
      <dgm:spPr/>
    </dgm:pt>
    <dgm:pt modelId="{149E8246-107E-446D-83A2-2619E61A535F}" type="pres">
      <dgm:prSet presAssocID="{6683C677-89E1-4E18-8444-F8D0F9174767}" presName="pictRect" presStyleLbl="revTx" presStyleIdx="2" presStyleCnt="6" custScaleY="172121">
        <dgm:presLayoutVars>
          <dgm:chMax val="0"/>
          <dgm:bulletEnabled/>
        </dgm:presLayoutVars>
      </dgm:prSet>
      <dgm:spPr/>
    </dgm:pt>
    <dgm:pt modelId="{8EE598D4-3436-4B47-84B1-DAD22BF1454E}" type="pres">
      <dgm:prSet presAssocID="{6683C677-89E1-4E18-8444-F8D0F9174767}" presName="textRect" presStyleLbl="revTx" presStyleIdx="3" presStyleCnt="6">
        <dgm:presLayoutVars>
          <dgm:bulletEnabled/>
        </dgm:presLayoutVars>
      </dgm:prSet>
      <dgm:spPr/>
    </dgm:pt>
    <dgm:pt modelId="{4AFCB975-8743-43A1-8661-60F23E9B89A3}" type="pres">
      <dgm:prSet presAssocID="{09D8EA0C-EED3-4BB1-8AEF-7CFB760A7162}" presName="sibTrans" presStyleLbl="sibTrans2D1" presStyleIdx="0" presStyleCnt="0"/>
      <dgm:spPr/>
    </dgm:pt>
    <dgm:pt modelId="{CDF5A025-CFDC-4004-91F9-1AE14552A37B}" type="pres">
      <dgm:prSet presAssocID="{1DD03B1B-225F-4F59-88E9-6E12FADD869B}" presName="compNode" presStyleCnt="0"/>
      <dgm:spPr/>
    </dgm:pt>
    <dgm:pt modelId="{7601E8C4-7F17-4695-B1CE-57EF4035A40F}" type="pres">
      <dgm:prSet presAssocID="{1DD03B1B-225F-4F59-88E9-6E12FADD869B}" presName="pictRect" presStyleLbl="revTx" presStyleIdx="4" presStyleCnt="6" custScaleY="172121">
        <dgm:presLayoutVars>
          <dgm:chMax val="0"/>
          <dgm:bulletEnabled/>
        </dgm:presLayoutVars>
      </dgm:prSet>
      <dgm:spPr/>
    </dgm:pt>
    <dgm:pt modelId="{4089A5D8-997B-4184-99FA-4FC49BC3D349}" type="pres">
      <dgm:prSet presAssocID="{1DD03B1B-225F-4F59-88E9-6E12FADD869B}" presName="textRect" presStyleLbl="revTx" presStyleIdx="5" presStyleCnt="6">
        <dgm:presLayoutVars>
          <dgm:bulletEnabled/>
        </dgm:presLayoutVars>
      </dgm:prSet>
      <dgm:spPr/>
    </dgm:pt>
  </dgm:ptLst>
  <dgm:cxnLst>
    <dgm:cxn modelId="{6E9CBC10-6408-4B6B-9D91-3B6CF69723A7}" type="presOf" srcId="{56734F44-9D7F-4CFB-9CBD-E0EEABC32D3D}" destId="{8EE598D4-3436-4B47-84B1-DAD22BF1454E}" srcOrd="0" destOrd="0" presId="urn:microsoft.com/office/officeart/2024/3/layout/ArchList1#26"/>
    <dgm:cxn modelId="{F20F3214-47B8-4901-993F-1C150E72B110}" type="presOf" srcId="{F79D005A-EF78-4DC8-A9B0-7B54127FABB3}" destId="{439189D0-7625-4BFC-AE7F-D155DAEB60E0}" srcOrd="0" destOrd="0" presId="urn:microsoft.com/office/officeart/2024/3/layout/ArchList1#26"/>
    <dgm:cxn modelId="{C8E9B118-1144-4153-9F17-68806EA98F56}" type="presOf" srcId="{09D8EA0C-EED3-4BB1-8AEF-7CFB760A7162}" destId="{4AFCB975-8743-43A1-8661-60F23E9B89A3}" srcOrd="0" destOrd="0" presId="urn:microsoft.com/office/officeart/2024/3/layout/ArchList1#26"/>
    <dgm:cxn modelId="{8BAEE11B-222F-42FE-A09C-06651794E8C6}" type="presOf" srcId="{5C6C0E93-31C2-4367-9734-22A77E91F852}" destId="{C046629B-369E-4F2D-9BA1-5E3C2DFD91CF}" srcOrd="0" destOrd="0" presId="urn:microsoft.com/office/officeart/2024/3/layout/ArchList1#26"/>
    <dgm:cxn modelId="{AA786369-BAB6-4E7D-8D40-3038C2F9BD94}" type="presOf" srcId="{F6C60737-054A-4D4C-890B-C348D450576A}" destId="{4089A5D8-997B-4184-99FA-4FC49BC3D349}" srcOrd="0" destOrd="0" presId="urn:microsoft.com/office/officeart/2024/3/layout/ArchList1#26"/>
    <dgm:cxn modelId="{BF038F71-DD3A-456F-94B1-E4A5F6A7590E}" srcId="{6683C677-89E1-4E18-8444-F8D0F9174767}" destId="{56734F44-9D7F-4CFB-9CBD-E0EEABC32D3D}" srcOrd="0" destOrd="0" parTransId="{A3AD6FCC-E4F5-46B4-B004-A23AC5C6F65B}" sibTransId="{9C036100-254F-47F6-B01F-1758F7BB772A}"/>
    <dgm:cxn modelId="{08D96A7A-7B33-4E0A-B8CD-43FF03620A4D}" type="presOf" srcId="{6683C677-89E1-4E18-8444-F8D0F9174767}" destId="{149E8246-107E-446D-83A2-2619E61A535F}" srcOrd="0" destOrd="0" presId="urn:microsoft.com/office/officeart/2024/3/layout/ArchList1#26"/>
    <dgm:cxn modelId="{56C8B87E-0F96-4F20-8345-3069AB024E9E}" srcId="{F79D005A-EF78-4DC8-A9B0-7B54127FABB3}" destId="{6683C677-89E1-4E18-8444-F8D0F9174767}" srcOrd="1" destOrd="0" parTransId="{9096D71F-9713-469B-ACE6-161111FE9A54}" sibTransId="{09D8EA0C-EED3-4BB1-8AEF-7CFB760A7162}"/>
    <dgm:cxn modelId="{D1B1DD7F-1A0E-4B47-A656-BC529ACC4476}" type="presOf" srcId="{5DC4A6D3-8F5B-462C-98E5-9DBA04B5F5C0}" destId="{922F7867-BAA8-4280-885B-E9A3B540D23F}" srcOrd="0" destOrd="0" presId="urn:microsoft.com/office/officeart/2024/3/layout/ArchList1#26"/>
    <dgm:cxn modelId="{6193C484-8ABE-4C8E-BC1B-11825138E8E6}" srcId="{1DD03B1B-225F-4F59-88E9-6E12FADD869B}" destId="{F6C60737-054A-4D4C-890B-C348D450576A}" srcOrd="0" destOrd="0" parTransId="{AD74D646-4FE6-49CB-B06E-B0BEE753FD5B}" sibTransId="{33DDF299-F25D-43EA-B386-54F6148ECB5B}"/>
    <dgm:cxn modelId="{B8CDC488-4F8D-4EF9-86AB-BC5EDA02D830}" srcId="{5C6C0E93-31C2-4367-9734-22A77E91F852}" destId="{5DC4A6D3-8F5B-462C-98E5-9DBA04B5F5C0}" srcOrd="0" destOrd="0" parTransId="{05AC1DA1-5915-400C-AA8A-59903F7D8430}" sibTransId="{EBE04370-C115-496A-829B-022F025D9929}"/>
    <dgm:cxn modelId="{B029E4AA-8B93-47D3-B437-B1BD6DD71A20}" type="presOf" srcId="{1DD03B1B-225F-4F59-88E9-6E12FADD869B}" destId="{7601E8C4-7F17-4695-B1CE-57EF4035A40F}" srcOrd="0" destOrd="0" presId="urn:microsoft.com/office/officeart/2024/3/layout/ArchList1#26"/>
    <dgm:cxn modelId="{3D5AEDEE-0A77-43E9-86F0-551CA752D47B}" type="presOf" srcId="{57C15597-8730-4C5E-950A-E3E94A8A5729}" destId="{5B9D68AB-F95F-4888-AF28-C7B8CC572246}" srcOrd="0" destOrd="0" presId="urn:microsoft.com/office/officeart/2024/3/layout/ArchList1#26"/>
    <dgm:cxn modelId="{380048F8-519C-4DF3-983E-65F199CAF07C}" srcId="{F79D005A-EF78-4DC8-A9B0-7B54127FABB3}" destId="{5C6C0E93-31C2-4367-9734-22A77E91F852}" srcOrd="0" destOrd="0" parTransId="{8C6185DB-C15F-4142-9FFC-06798EBB4FD3}" sibTransId="{57C15597-8730-4C5E-950A-E3E94A8A5729}"/>
    <dgm:cxn modelId="{3651E0FD-E66F-4F72-99C5-BD809EC3C96C}" srcId="{F79D005A-EF78-4DC8-A9B0-7B54127FABB3}" destId="{1DD03B1B-225F-4F59-88E9-6E12FADD869B}" srcOrd="2" destOrd="0" parTransId="{FE2FFDD7-EC33-4C15-918C-5DE14D4351F6}" sibTransId="{36F1427C-26E2-4129-AD15-F3263C896B71}"/>
    <dgm:cxn modelId="{C4441C21-4D4A-419E-BDB5-0EFDEC6881AA}" type="presParOf" srcId="{439189D0-7625-4BFC-AE7F-D155DAEB60E0}" destId="{427D038D-8874-450F-AD39-DCA5940C79C2}" srcOrd="0" destOrd="0" presId="urn:microsoft.com/office/officeart/2024/3/layout/ArchList1#26"/>
    <dgm:cxn modelId="{35BD9CA1-4C81-4437-9E5F-F14F1F9C26BE}" type="presParOf" srcId="{427D038D-8874-450F-AD39-DCA5940C79C2}" destId="{C046629B-369E-4F2D-9BA1-5E3C2DFD91CF}" srcOrd="0" destOrd="0" presId="urn:microsoft.com/office/officeart/2024/3/layout/ArchList1#26"/>
    <dgm:cxn modelId="{0B25A04F-F6D2-4255-AE2F-F93FD358A9F0}" type="presParOf" srcId="{427D038D-8874-450F-AD39-DCA5940C79C2}" destId="{922F7867-BAA8-4280-885B-E9A3B540D23F}" srcOrd="1" destOrd="0" presId="urn:microsoft.com/office/officeart/2024/3/layout/ArchList1#26"/>
    <dgm:cxn modelId="{4FBA8DEA-058A-488C-9128-632035E3EAD3}" type="presParOf" srcId="{439189D0-7625-4BFC-AE7F-D155DAEB60E0}" destId="{5B9D68AB-F95F-4888-AF28-C7B8CC572246}" srcOrd="1" destOrd="0" presId="urn:microsoft.com/office/officeart/2024/3/layout/ArchList1#26"/>
    <dgm:cxn modelId="{E32CAB04-EB91-48B0-88D3-91BB21C269B5}" type="presParOf" srcId="{439189D0-7625-4BFC-AE7F-D155DAEB60E0}" destId="{48C5B127-2DFE-4CE5-9384-32D732EE91F1}" srcOrd="2" destOrd="0" presId="urn:microsoft.com/office/officeart/2024/3/layout/ArchList1#26"/>
    <dgm:cxn modelId="{3247B220-9C19-44F7-B795-F64ED64B9E4D}" type="presParOf" srcId="{48C5B127-2DFE-4CE5-9384-32D732EE91F1}" destId="{149E8246-107E-446D-83A2-2619E61A535F}" srcOrd="0" destOrd="0" presId="urn:microsoft.com/office/officeart/2024/3/layout/ArchList1#26"/>
    <dgm:cxn modelId="{2B0159A6-CBB2-4720-AD9D-7D0D21E11BFE}" type="presParOf" srcId="{48C5B127-2DFE-4CE5-9384-32D732EE91F1}" destId="{8EE598D4-3436-4B47-84B1-DAD22BF1454E}" srcOrd="1" destOrd="0" presId="urn:microsoft.com/office/officeart/2024/3/layout/ArchList1#26"/>
    <dgm:cxn modelId="{C4A25BD5-B19C-4B50-B226-AE9161EA5D48}" type="presParOf" srcId="{439189D0-7625-4BFC-AE7F-D155DAEB60E0}" destId="{4AFCB975-8743-43A1-8661-60F23E9B89A3}" srcOrd="3" destOrd="0" presId="urn:microsoft.com/office/officeart/2024/3/layout/ArchList1#26"/>
    <dgm:cxn modelId="{3904024F-68F4-46C4-B2F0-EFA55405E3F3}" type="presParOf" srcId="{439189D0-7625-4BFC-AE7F-D155DAEB60E0}" destId="{CDF5A025-CFDC-4004-91F9-1AE14552A37B}" srcOrd="4" destOrd="0" presId="urn:microsoft.com/office/officeart/2024/3/layout/ArchList1#26"/>
    <dgm:cxn modelId="{6E5E03FD-89E3-4F21-880B-A61477759132}" type="presParOf" srcId="{CDF5A025-CFDC-4004-91F9-1AE14552A37B}" destId="{7601E8C4-7F17-4695-B1CE-57EF4035A40F}" srcOrd="0" destOrd="0" presId="urn:microsoft.com/office/officeart/2024/3/layout/ArchList1#26"/>
    <dgm:cxn modelId="{387C8A76-3DF5-4D94-95AC-2E13970FACED}" type="presParOf" srcId="{CDF5A025-CFDC-4004-91F9-1AE14552A37B}" destId="{4089A5D8-997B-4184-99FA-4FC49BC3D349}" srcOrd="1" destOrd="0" presId="urn:microsoft.com/office/officeart/2024/3/layout/ArchList1#2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6629B-369E-4F2D-9BA1-5E3C2DFD91CF}">
      <dsp:nvSpPr>
        <dsp:cNvPr id="0" name=""/>
        <dsp:cNvSpPr/>
      </dsp:nvSpPr>
      <dsp:spPr>
        <a:xfrm>
          <a:off x="0" y="0"/>
          <a:ext cx="3399879" cy="550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b="1" kern="1200" dirty="0">
              <a:solidFill>
                <a:schemeClr val="tx1"/>
              </a:solidFill>
            </a:rPr>
            <a:t>Proven results</a:t>
          </a:r>
          <a:endParaRPr lang="en-US" sz="1700" kern="1200" dirty="0">
            <a:solidFill>
              <a:schemeClr val="tx1"/>
            </a:solidFill>
          </a:endParaRPr>
        </a:p>
      </dsp:txBody>
      <dsp:txXfrm>
        <a:off x="0" y="0"/>
        <a:ext cx="3399879" cy="550745"/>
      </dsp:txXfrm>
    </dsp:sp>
    <dsp:sp modelId="{922F7867-BAA8-4280-885B-E9A3B540D23F}">
      <dsp:nvSpPr>
        <dsp:cNvPr id="0" name=""/>
        <dsp:cNvSpPr/>
      </dsp:nvSpPr>
      <dsp:spPr>
        <a:xfrm>
          <a:off x="0" y="435360"/>
          <a:ext cx="3399879" cy="2450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pPr>
          <a:r>
            <a:rPr lang="en-US" sz="1700" kern="1200" dirty="0">
              <a:solidFill>
                <a:schemeClr val="tx1"/>
              </a:solidFill>
            </a:rPr>
            <a:t>We’ve helped hundreds of businesses transform their operations by implementing innovative solutions that streamline processes, enhance productivity, and drive growth.</a:t>
          </a:r>
        </a:p>
      </dsp:txBody>
      <dsp:txXfrm>
        <a:off x="0" y="435360"/>
        <a:ext cx="3399879" cy="2450286"/>
      </dsp:txXfrm>
    </dsp:sp>
    <dsp:sp modelId="{149E8246-107E-446D-83A2-2619E61A535F}">
      <dsp:nvSpPr>
        <dsp:cNvPr id="0" name=""/>
        <dsp:cNvSpPr/>
      </dsp:nvSpPr>
      <dsp:spPr>
        <a:xfrm>
          <a:off x="3739867" y="0"/>
          <a:ext cx="3399879" cy="550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b="1" kern="1200" dirty="0">
              <a:solidFill>
                <a:schemeClr val="tx1"/>
              </a:solidFill>
            </a:rPr>
            <a:t>Tailored approach</a:t>
          </a:r>
          <a:endParaRPr lang="en-US" sz="1700" kern="1200" dirty="0">
            <a:solidFill>
              <a:schemeClr val="tx1"/>
            </a:solidFill>
          </a:endParaRPr>
        </a:p>
      </dsp:txBody>
      <dsp:txXfrm>
        <a:off x="3739867" y="0"/>
        <a:ext cx="3399879" cy="550745"/>
      </dsp:txXfrm>
    </dsp:sp>
    <dsp:sp modelId="{8EE598D4-3436-4B47-84B1-DAD22BF1454E}">
      <dsp:nvSpPr>
        <dsp:cNvPr id="0" name=""/>
        <dsp:cNvSpPr/>
      </dsp:nvSpPr>
      <dsp:spPr>
        <a:xfrm>
          <a:off x="3739867" y="435360"/>
          <a:ext cx="3399879" cy="2450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pPr>
          <a:r>
            <a:rPr lang="en-US" sz="1700" kern="1200" dirty="0">
              <a:solidFill>
                <a:schemeClr val="tx1"/>
              </a:solidFill>
            </a:rPr>
            <a:t>Our solutions are customized to fit your unique needs, ensuring that you receive the most effective and relevant support for your specific challenges. </a:t>
          </a:r>
        </a:p>
      </dsp:txBody>
      <dsp:txXfrm>
        <a:off x="3739867" y="435360"/>
        <a:ext cx="3399879" cy="2450286"/>
      </dsp:txXfrm>
    </dsp:sp>
    <dsp:sp modelId="{7601E8C4-7F17-4695-B1CE-57EF4035A40F}">
      <dsp:nvSpPr>
        <dsp:cNvPr id="0" name=""/>
        <dsp:cNvSpPr/>
      </dsp:nvSpPr>
      <dsp:spPr>
        <a:xfrm>
          <a:off x="7479735" y="0"/>
          <a:ext cx="3399879" cy="550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b="1" kern="1200" dirty="0">
              <a:solidFill>
                <a:schemeClr val="tx1"/>
              </a:solidFill>
            </a:rPr>
            <a:t>Unmatched support</a:t>
          </a:r>
          <a:endParaRPr lang="en-US" sz="1700" kern="1200" dirty="0">
            <a:solidFill>
              <a:schemeClr val="tx1"/>
            </a:solidFill>
          </a:endParaRPr>
        </a:p>
      </dsp:txBody>
      <dsp:txXfrm>
        <a:off x="7479735" y="0"/>
        <a:ext cx="3399879" cy="550745"/>
      </dsp:txXfrm>
    </dsp:sp>
    <dsp:sp modelId="{4089A5D8-997B-4184-99FA-4FC49BC3D349}">
      <dsp:nvSpPr>
        <dsp:cNvPr id="0" name=""/>
        <dsp:cNvSpPr/>
      </dsp:nvSpPr>
      <dsp:spPr>
        <a:xfrm>
          <a:off x="7479735" y="435360"/>
          <a:ext cx="3399879" cy="2450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pPr>
          <a:r>
            <a:rPr lang="en-US" sz="1700" kern="1200" dirty="0">
              <a:solidFill>
                <a:schemeClr val="tx1"/>
              </a:solidFill>
            </a:rPr>
            <a:t>We offer ongoing guidance to ensure long-term success, providing you with the tools, resources, and expertise needed to navigate any challenges that may arise.</a:t>
          </a:r>
        </a:p>
      </dsp:txBody>
      <dsp:txXfrm>
        <a:off x="7479735" y="435360"/>
        <a:ext cx="3399879" cy="2450286"/>
      </dsp:txXfrm>
    </dsp:sp>
  </dsp:spTree>
</dsp:drawing>
</file>

<file path=ppt/diagrams/layout1.xml><?xml version="1.0" encoding="utf-8"?>
<dgm:layoutDef xmlns:dgm="http://schemas.openxmlformats.org/drawingml/2006/diagram" xmlns:a="http://schemas.openxmlformats.org/drawingml/2006/main" uniqueId="urn:microsoft.com/office/officeart/2024/3/layout/ArchList1#26">
  <dgm:title val="Flexible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linDir" val="from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12/9/2025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0936" y="5218032"/>
            <a:ext cx="10932414" cy="786384"/>
          </a:xfrm>
        </p:spPr>
        <p:txBody>
          <a:bodyPr anchor="b">
            <a:noAutofit/>
          </a:bodyPr>
          <a:lstStyle>
            <a:lvl1pPr algn="l">
              <a:defRPr sz="5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0936" y="5972629"/>
            <a:ext cx="10932414"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4D12F663-2D42-4D8D-8B66-F6D7B96B7E4F}" type="datetime1">
              <a:rPr lang="en-US" smtClean="0"/>
              <a:t>12/9/2025</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96117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548640"/>
            <a:ext cx="10966705"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012950"/>
            <a:ext cx="10966705" cy="42964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303E9E-867F-47D4-B13F-6E6FFB1B7C4A}" type="datetime1">
              <a:rPr lang="en-US" smtClean="0"/>
              <a:t>12/9/2025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89340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48AABB8B-4620-4B01-AC08-F2C17CE7BAD0}" type="datetime1">
              <a:rPr lang="en-US" smtClean="0"/>
              <a:t>12/9/2025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924156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690B0201-F822-4EAC-9483-794208D24AB4}" type="datetime1">
              <a:rPr lang="en-US" smtClean="0"/>
              <a:t>12/9/2025</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076294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997" y="635364"/>
            <a:ext cx="10923339" cy="4915803"/>
          </a:xfrm>
        </p:spPr>
        <p:txBody>
          <a:bodyPr anchor="t">
            <a:normAutofit/>
          </a:bodyPr>
          <a:lstStyle>
            <a:lvl1pPr algn="l">
              <a:lnSpc>
                <a:spcPct val="65000"/>
              </a:lnSpc>
              <a:defRPr sz="110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39937" y="5799354"/>
            <a:ext cx="9418399" cy="446558"/>
          </a:xfrm>
        </p:spPr>
        <p:txBody>
          <a:bodyPr anchor="b">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67FA86B1-8D3C-44FE-BD06-31F50B197DDB}" type="datetime1">
              <a:rPr lang="en-US" smtClean="0"/>
              <a:pPr/>
              <a:t>12/9/2025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9" name="Shape 2">
            <a:extLst>
              <a:ext uri="{FF2B5EF4-FFF2-40B4-BE49-F238E27FC236}">
                <a16:creationId xmlns:a16="http://schemas.microsoft.com/office/drawing/2014/main" id="{02574B0E-E690-3936-E24A-039421B24FD7}"/>
              </a:ext>
            </a:extLst>
          </p:cNvPr>
          <p:cNvSpPr/>
          <p:nvPr/>
        </p:nvSpPr>
        <p:spPr>
          <a:xfrm>
            <a:off x="679447" y="5803591"/>
            <a:ext cx="482598" cy="482537"/>
          </a:xfrm>
          <a:prstGeom prst="ellipse">
            <a:avLst/>
          </a:prstGeom>
          <a:noFill/>
          <a:ln w="12700">
            <a:solidFill>
              <a:schemeClr val="tx1"/>
            </a:solidFill>
            <a:prstDash val="solid"/>
          </a:ln>
        </p:spPr>
        <p:txBody>
          <a:bodyPr/>
          <a:lstStyle/>
          <a:p>
            <a:endParaRPr lang="en-US" sz="900" dirty="0">
              <a:solidFill>
                <a:schemeClr val="tx1"/>
              </a:solidFill>
            </a:endParaRPr>
          </a:p>
        </p:txBody>
      </p:sp>
      <p:pic>
        <p:nvPicPr>
          <p:cNvPr id="10" name="Image 0" descr=" ">
            <a:extLst>
              <a:ext uri="{FF2B5EF4-FFF2-40B4-BE49-F238E27FC236}">
                <a16:creationId xmlns:a16="http://schemas.microsoft.com/office/drawing/2014/main" id="{FD99B78C-30FB-8F34-4B19-F781FCDAC5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4084" y="6020901"/>
            <a:ext cx="727369" cy="73313"/>
          </a:xfrm>
          <a:prstGeom prst="rect">
            <a:avLst/>
          </a:prstGeom>
        </p:spPr>
      </p:pic>
    </p:spTree>
    <p:extLst>
      <p:ext uri="{BB962C8B-B14F-4D97-AF65-F5344CB8AC3E}">
        <p14:creationId xmlns:p14="http://schemas.microsoft.com/office/powerpoint/2010/main" val="11699979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4CB816D-C79A-4399-A589-78065E5C7E1B}" type="datetime1">
              <a:rPr lang="en-US" smtClean="0"/>
              <a:t>12/9/2025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856530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91590" y="1318302"/>
            <a:ext cx="9608820"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B1C276B-36AC-4A3A-AD2A-9A0966D16D3E}" type="datetime1">
              <a:rPr lang="en-US" smtClean="0"/>
              <a:t>12/9/2025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941756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9447" y="635363"/>
            <a:ext cx="10952715" cy="4931191"/>
          </a:xfrm>
        </p:spPr>
        <p:txBody>
          <a:bodyPr anchor="t">
            <a:normAutofit/>
          </a:bodyPr>
          <a:lstStyle>
            <a:lvl1pPr algn="l">
              <a:lnSpc>
                <a:spcPct val="65000"/>
              </a:lnSpc>
              <a:defRPr sz="110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945A4C8E-0512-44ED-A117-15A43817985F}" type="datetime1">
              <a:rPr lang="en-US" smtClean="0"/>
              <a:pPr/>
              <a:t>12/9/2025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Shape 1">
            <a:extLst>
              <a:ext uri="{FF2B5EF4-FFF2-40B4-BE49-F238E27FC236}">
                <a16:creationId xmlns:a16="http://schemas.microsoft.com/office/drawing/2014/main" id="{8F39D539-C72A-46A0-EB96-C3401D538D65}"/>
              </a:ext>
            </a:extLst>
          </p:cNvPr>
          <p:cNvSpPr/>
          <p:nvPr/>
        </p:nvSpPr>
        <p:spPr>
          <a:xfrm>
            <a:off x="679447" y="5803591"/>
            <a:ext cx="482598" cy="482537"/>
          </a:xfrm>
          <a:prstGeom prst="ellipse">
            <a:avLst/>
          </a:prstGeom>
          <a:noFill/>
          <a:ln w="12700">
            <a:solidFill>
              <a:srgbClr val="DCEBFF"/>
            </a:solidFill>
            <a:prstDash val="solid"/>
          </a:ln>
        </p:spPr>
        <p:txBody>
          <a:bodyPr/>
          <a:lstStyle/>
          <a:p>
            <a:endParaRPr lang="en-US" sz="900" dirty="0">
              <a:solidFill>
                <a:schemeClr val="tx1"/>
              </a:solidFill>
            </a:endParaRPr>
          </a:p>
        </p:txBody>
      </p:sp>
      <p:pic>
        <p:nvPicPr>
          <p:cNvPr id="9" name="Image 0" descr=" ">
            <a:extLst>
              <a:ext uri="{FF2B5EF4-FFF2-40B4-BE49-F238E27FC236}">
                <a16:creationId xmlns:a16="http://schemas.microsoft.com/office/drawing/2014/main" id="{FD8622F3-14FF-0CA2-1EC3-17C66BA6C56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4084" y="6020901"/>
            <a:ext cx="727369" cy="73313"/>
          </a:xfrm>
          <a:prstGeom prst="rect">
            <a:avLst/>
          </a:prstGeom>
        </p:spPr>
      </p:pic>
    </p:spTree>
    <p:extLst>
      <p:ext uri="{BB962C8B-B14F-4D97-AF65-F5344CB8AC3E}">
        <p14:creationId xmlns:p14="http://schemas.microsoft.com/office/powerpoint/2010/main" val="16469280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139939" y="374649"/>
            <a:ext cx="9632961" cy="5847987"/>
          </a:xfrm>
        </p:spPr>
        <p:txBody>
          <a:bodyPr anchor="b">
            <a:normAutofit/>
          </a:bodyPr>
          <a:lstStyle>
            <a:lvl1pPr algn="l">
              <a:lnSpc>
                <a:spcPct val="65000"/>
              </a:lnSpc>
              <a:defRPr sz="110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642C84F-F977-43DB-90CF-ECC5710077AC}" type="datetime1">
              <a:rPr lang="en-US" smtClean="0"/>
              <a:pPr/>
              <a:t>12/9/2025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9" name="Shape 1">
            <a:extLst>
              <a:ext uri="{FF2B5EF4-FFF2-40B4-BE49-F238E27FC236}">
                <a16:creationId xmlns:a16="http://schemas.microsoft.com/office/drawing/2014/main" id="{97058303-9BE8-7CE5-6918-3467664B819B}"/>
              </a:ext>
            </a:extLst>
          </p:cNvPr>
          <p:cNvSpPr/>
          <p:nvPr/>
        </p:nvSpPr>
        <p:spPr>
          <a:xfrm>
            <a:off x="679447" y="635364"/>
            <a:ext cx="482598" cy="482537"/>
          </a:xfrm>
          <a:prstGeom prst="ellipse">
            <a:avLst/>
          </a:prstGeom>
          <a:noFill/>
          <a:ln w="12700">
            <a:solidFill>
              <a:schemeClr val="tx1"/>
            </a:solidFill>
            <a:prstDash val="solid"/>
          </a:ln>
        </p:spPr>
        <p:txBody>
          <a:bodyPr/>
          <a:lstStyle/>
          <a:p>
            <a:endParaRPr lang="en-US" sz="900" dirty="0">
              <a:solidFill>
                <a:schemeClr val="tx1"/>
              </a:solidFill>
            </a:endParaRPr>
          </a:p>
        </p:txBody>
      </p:sp>
      <p:pic>
        <p:nvPicPr>
          <p:cNvPr id="10" name="Image 0" descr=" ">
            <a:extLst>
              <a:ext uri="{FF2B5EF4-FFF2-40B4-BE49-F238E27FC236}">
                <a16:creationId xmlns:a16="http://schemas.microsoft.com/office/drawing/2014/main" id="{BC632823-5A98-7687-702C-BB6CA7E924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4084" y="852674"/>
            <a:ext cx="727369" cy="73313"/>
          </a:xfrm>
          <a:prstGeom prst="rect">
            <a:avLst/>
          </a:prstGeom>
        </p:spPr>
      </p:pic>
    </p:spTree>
    <p:extLst>
      <p:ext uri="{BB962C8B-B14F-4D97-AF65-F5344CB8AC3E}">
        <p14:creationId xmlns:p14="http://schemas.microsoft.com/office/powerpoint/2010/main" val="17204806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2139939" y="603250"/>
            <a:ext cx="6940265" cy="1247114"/>
          </a:xfrm>
        </p:spPr>
        <p:txBody>
          <a:bodyPr anchor="t">
            <a:normAutofit/>
          </a:bodyPr>
          <a:lstStyle>
            <a:lvl1pPr>
              <a:defRPr sz="44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139939" y="2946400"/>
            <a:ext cx="6940265" cy="307736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F743D06-3677-41B9-93FF-F244A316173A}" type="datetime1">
              <a:rPr lang="en-US" smtClean="0"/>
              <a:t>12/9/2025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Shape 1">
            <a:extLst>
              <a:ext uri="{FF2B5EF4-FFF2-40B4-BE49-F238E27FC236}">
                <a16:creationId xmlns:a16="http://schemas.microsoft.com/office/drawing/2014/main" id="{57EC6461-B110-039F-5E9B-951A244C5823}"/>
              </a:ext>
            </a:extLst>
          </p:cNvPr>
          <p:cNvSpPr/>
          <p:nvPr userDrawn="1"/>
        </p:nvSpPr>
        <p:spPr>
          <a:xfrm>
            <a:off x="679447" y="635364"/>
            <a:ext cx="482598" cy="482537"/>
          </a:xfrm>
          <a:prstGeom prst="ellipse">
            <a:avLst/>
          </a:prstGeom>
          <a:noFill/>
          <a:ln w="12700">
            <a:solidFill>
              <a:srgbClr val="113D61"/>
            </a:solidFill>
            <a:prstDash val="solid"/>
          </a:ln>
        </p:spPr>
        <p:txBody>
          <a:bodyPr/>
          <a:lstStyle/>
          <a:p>
            <a:endParaRPr lang="en-US" sz="900" dirty="0"/>
          </a:p>
        </p:txBody>
      </p:sp>
      <p:pic>
        <p:nvPicPr>
          <p:cNvPr id="8" name="Image 0" descr=" ">
            <a:extLst>
              <a:ext uri="{FF2B5EF4-FFF2-40B4-BE49-F238E27FC236}">
                <a16:creationId xmlns:a16="http://schemas.microsoft.com/office/drawing/2014/main" id="{6FE7E00A-9B1B-C1C5-8E1D-04154B0817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4084" y="852674"/>
            <a:ext cx="727369" cy="73313"/>
          </a:xfrm>
          <a:prstGeom prst="rect">
            <a:avLst/>
          </a:prstGeom>
        </p:spPr>
      </p:pic>
    </p:spTree>
    <p:extLst>
      <p:ext uri="{BB962C8B-B14F-4D97-AF65-F5344CB8AC3E}">
        <p14:creationId xmlns:p14="http://schemas.microsoft.com/office/powerpoint/2010/main" val="2850323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0726" y="4899892"/>
            <a:ext cx="6303475" cy="1322744"/>
          </a:xfrm>
        </p:spPr>
        <p:txBody>
          <a:bodyPr anchor="b">
            <a:noAutofit/>
          </a:bodyPr>
          <a:lstStyle>
            <a:lvl1pPr>
              <a:defRPr sz="50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0726" y="635364"/>
            <a:ext cx="6303475" cy="4179872"/>
          </a:xfrm>
        </p:spPr>
        <p:txBody>
          <a:bodyPr>
            <a:normAutofit/>
          </a:bodyPr>
          <a:lstStyle>
            <a:lvl1pPr marL="0" indent="0">
              <a:buFont typeface="+mj-lt"/>
              <a:buNone/>
              <a:defRPr sz="2000"/>
            </a:lvl1pPr>
            <a:lvl2pPr marL="228600" indent="0">
              <a:buFont typeface="+mj-lt"/>
              <a:buNone/>
              <a:defRPr sz="1800"/>
            </a:lvl2pPr>
            <a:lvl3pPr marL="457200" indent="0">
              <a:buFont typeface="+mj-lt"/>
              <a:buNone/>
              <a:defRPr sz="1600"/>
            </a:lvl3pPr>
            <a:lvl4pPr marL="685800" indent="0">
              <a:buFont typeface="+mj-lt"/>
              <a:buNone/>
              <a:defRPr sz="1400"/>
            </a:lvl4pPr>
            <a:lvl5pPr marL="914400" indent="0">
              <a:buFont typeface="+mj-lt"/>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7226261" y="0"/>
            <a:ext cx="4965675"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0726" y="6453002"/>
            <a:ext cx="1996689" cy="365125"/>
          </a:xfrm>
        </p:spPr>
        <p:txBody>
          <a:bodyPr/>
          <a:lstStyle/>
          <a:p>
            <a:fld id="{AF1BDF4E-8C13-44FB-9026-C40AFBD27988}" type="datetime1">
              <a:rPr lang="en-US" smtClean="0"/>
              <a:t>12/9/2025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3749353" y="6453002"/>
            <a:ext cx="2805405"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504994"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49330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81F8899-13A2-4E87-9940-E0F530BAB98F}" type="datetime1">
              <a:rPr lang="en-US" smtClean="0"/>
              <a:t>12/9/2025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9247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27BE565-C398-4C36-A428-0551C7D5DE8E}" type="datetime1">
              <a:rPr lang="en-US" smtClean="0"/>
              <a:t>12/9/2025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148865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5DC3206-50E4-41A4-9C8E-9A1E3F3312DD}" type="datetime1">
              <a:rPr lang="en-US" smtClean="0"/>
              <a:t>12/9/2025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44222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924239E-6716-4AEB-B56E-5A4637DB6293}" type="datetime1">
              <a:rPr lang="en-US" smtClean="0"/>
              <a:t>12/9/2025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647056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0936" y="548639"/>
            <a:ext cx="3494314" cy="5719639"/>
          </a:xfrm>
        </p:spPr>
        <p:txBody>
          <a:bodyPr>
            <a:normAutofit/>
          </a:bodyPr>
          <a:lstStyle>
            <a:lvl1pPr>
              <a:defRPr sz="50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DFF8D3B-2389-48A8-BD1C-64E8B564DC2A}" type="datetime1">
              <a:rPr lang="en-US" smtClean="0"/>
              <a:t>12/9/2025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82692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56914DD-DD42-4B3C-8A86-D2A3379492DC}" type="datetime1">
              <a:rPr lang="en-US" smtClean="0"/>
              <a:t>12/9/2025</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27163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0936" y="635363"/>
            <a:ext cx="6295061" cy="2452897"/>
          </a:xfrm>
        </p:spPr>
        <p:txBody>
          <a:bodyPr anchor="t">
            <a:normAutofit/>
          </a:bodyPr>
          <a:lstStyle>
            <a:lvl1pPr>
              <a:defRPr sz="50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0936" y="3238524"/>
            <a:ext cx="6295060" cy="298411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249048" y="635364"/>
            <a:ext cx="4942952" cy="5587272"/>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28344424-14BD-402D-BC7C-E30C5D38EAD0}" type="datetime1">
              <a:rPr lang="en-US" smtClean="0"/>
              <a:t>12/9/2025</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717893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6C782C4-C2E5-4A86-A35E-5A0906541E04}" type="datetime1">
              <a:rPr lang="en-US" smtClean="0"/>
              <a:t>12/9/2025</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892945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7D126C11-AC0C-4F72-92E2-191602B652CE}" type="datetime1">
              <a:rPr lang="en-US" smtClean="0"/>
              <a:t>12/9/2025</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45884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D97D0C8B-A7D7-4085-BD6C-F718C2812B1E}" type="datetime1">
              <a:rPr lang="en-US" smtClean="0"/>
              <a:pPr/>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2887134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lvl1pPr>
              <a:defRPr>
                <a:solidFill>
                  <a:schemeClr val="tx1"/>
                </a:solidFill>
              </a:defRPr>
            </a:lvl1pPr>
          </a:lstStyle>
          <a:p>
            <a:fld id="{38E7194C-F80D-4BE7-86E9-35DE71EE480C}" type="datetime1">
              <a:rPr lang="en-US" smtClean="0"/>
              <a:pPr/>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161214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1667510"/>
          </a:xfrm>
        </p:spPr>
        <p:txBody>
          <a:bodyPr anchor="b">
            <a:noAutofit/>
          </a:bodyPr>
          <a:lstStyle>
            <a:lvl1pPr>
              <a:defRPr sz="50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2178050"/>
            <a:ext cx="4512601" cy="4186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1E0ECAE9-8D9C-48C6-ACCA-BF6EC7CF4D71}" type="datetime1">
              <a:rPr lang="en-US" smtClean="0"/>
              <a:pPr/>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757407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lvl1pPr>
              <a:defRPr>
                <a:solidFill>
                  <a:schemeClr val="tx1"/>
                </a:solidFill>
              </a:defRPr>
            </a:lvl1pPr>
          </a:lstStyle>
          <a:p>
            <a:fld id="{3ED2D13F-205F-4391-B493-94CB2F69FA8D}" type="datetime1">
              <a:rPr lang="en-US" smtClean="0"/>
              <a:pPr/>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658491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4802C336-AE02-47E8-B1F7-E3673B5DD374}" type="datetime1">
              <a:rPr lang="en-US" smtClean="0"/>
              <a:t>12/9/2025</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28939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lvl1pPr>
              <a:defRPr>
                <a:solidFill>
                  <a:schemeClr val="tx1"/>
                </a:solidFill>
              </a:defRPr>
            </a:lvl1pPr>
          </a:lstStyle>
          <a:p>
            <a:fld id="{EA99A118-8426-4787-A906-B547D3E835BD}" type="datetime1">
              <a:rPr lang="en-US" smtClean="0"/>
              <a:pPr/>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2451191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1B885821-1E04-4388-9DFB-9D6F038AB81E}" type="datetime1">
              <a:rPr lang="en-US" smtClean="0"/>
              <a:pPr/>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lvl1pPr>
              <a:defRPr>
                <a:solidFill>
                  <a:schemeClr val="tx1"/>
                </a:solidFill>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166664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C0B16B68-C4C5-408E-8C30-F0466EF6C40A}" type="datetime1">
              <a:rPr lang="en-US" smtClean="0"/>
              <a:pPr/>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981575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accent5"/>
                </a:solidFill>
              </a:defRPr>
            </a:lvl1pPr>
          </a:lstStyle>
          <a:p>
            <a:fld id="{942FD4E2-42C2-4AC0-A6C7-FAAF9BF6E496}" type="datetime1">
              <a:rPr lang="en-US" smtClean="0"/>
              <a:pPr/>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782236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0936" y="561424"/>
            <a:ext cx="2953618" cy="2240279"/>
          </a:xfrm>
        </p:spPr>
        <p:txBody>
          <a:bodyPr anchor="t">
            <a:noAutofit/>
          </a:bodyPr>
          <a:lstStyle>
            <a:lvl1pPr>
              <a:defRPr sz="50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1248C849-3CC8-4626-8E0A-32A0C0EC1B11}" type="datetime1">
              <a:rPr lang="en-US" smtClean="0"/>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583422" cy="2240280"/>
          </a:xfrm>
        </p:spPr>
        <p:txBody>
          <a:bodyPr>
            <a:noAutofit/>
          </a:bodyPr>
          <a:lstStyle>
            <a:lvl1pPr marL="0" indent="0">
              <a:buFont typeface="Arial" panose="020B0604020202020204" pitchFamily="34" charset="0"/>
              <a:buNone/>
              <a:defRPr sz="17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30936" y="3079730"/>
            <a:ext cx="10930126" cy="3778270"/>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275575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172200" cy="4425696"/>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F9DED60-CD2F-4F53-857A-08E5A431BD6A}" type="datetime1">
              <a:rPr lang="en-US" smtClean="0"/>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974179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CDF98E-28B2-4DBA-9573-27866346135C}" type="datetime1">
              <a:rPr lang="en-US" smtClean="0"/>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113531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BDAD2D0-124B-490C-94A4-F4CC42766C0B}" type="datetime1">
              <a:rPr lang="en-US" smtClean="0"/>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694058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8172407" y="1145787"/>
            <a:ext cx="3459755" cy="3394126"/>
          </a:xfrm>
        </p:spPr>
        <p:txBody>
          <a:bodyPr anchor="b">
            <a:normAutofit/>
          </a:bodyPr>
          <a:lstStyle>
            <a:lvl1pPr>
              <a:lnSpc>
                <a:spcPct val="100000"/>
              </a:lnSpc>
              <a:defRPr sz="3000" b="0" i="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6098" y="1145787"/>
            <a:ext cx="7286460" cy="4253946"/>
          </a:xfrm>
        </p:spPr>
        <p:txBody>
          <a:bodyPr lIns="91440" rIns="0" anchor="b">
            <a:normAutofit/>
          </a:bodyPr>
          <a:lstStyle>
            <a:lvl1pPr marL="0" indent="0">
              <a:lnSpc>
                <a:spcPct val="90000"/>
              </a:lnSpc>
              <a:spcBef>
                <a:spcPts val="0"/>
              </a:spcBef>
              <a:buNone/>
              <a:defRPr lang="en-US" sz="29994" i="1" kern="1200" dirty="0">
                <a:solidFill>
                  <a:srgbClr val="113D61">
                    <a:alpha val="100000"/>
                  </a:srgbClr>
                </a:solidFill>
                <a:latin typeface="+mj-lt"/>
                <a:ea typeface="Bodoni MT Italic" pitchFamily="34" charset="-122"/>
                <a:cs typeface="Bodoni MT Italic" pitchFamily="34" charset="-120"/>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6A01B54B-9DB4-4059-8190-43A1603AB7A6}" type="datetime1">
              <a:rPr lang="en-US" smtClean="0"/>
              <a:pPr/>
              <a:t>12/9/2025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9" name="Shape 2">
            <a:extLst>
              <a:ext uri="{FF2B5EF4-FFF2-40B4-BE49-F238E27FC236}">
                <a16:creationId xmlns:a16="http://schemas.microsoft.com/office/drawing/2014/main" id="{FD6197F8-EB4C-31FB-CACD-B4DF3CEE1283}"/>
              </a:ext>
            </a:extLst>
          </p:cNvPr>
          <p:cNvSpPr/>
          <p:nvPr/>
        </p:nvSpPr>
        <p:spPr>
          <a:xfrm>
            <a:off x="679447" y="5778194"/>
            <a:ext cx="482598" cy="482537"/>
          </a:xfrm>
          <a:prstGeom prst="ellipse">
            <a:avLst/>
          </a:prstGeom>
          <a:noFill/>
          <a:ln w="12700">
            <a:solidFill>
              <a:srgbClr val="113D61"/>
            </a:solidFill>
            <a:prstDash val="solid"/>
          </a:ln>
        </p:spPr>
        <p:txBody>
          <a:bodyPr/>
          <a:lstStyle/>
          <a:p>
            <a:endParaRPr lang="en-US" sz="900" dirty="0"/>
          </a:p>
        </p:txBody>
      </p:sp>
      <p:pic>
        <p:nvPicPr>
          <p:cNvPr id="10" name="Image 0" descr=" ">
            <a:extLst>
              <a:ext uri="{FF2B5EF4-FFF2-40B4-BE49-F238E27FC236}">
                <a16:creationId xmlns:a16="http://schemas.microsoft.com/office/drawing/2014/main" id="{000A43B0-2460-97F8-262A-620AEC02B2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4084" y="5995505"/>
            <a:ext cx="727369" cy="73313"/>
          </a:xfrm>
          <a:prstGeom prst="rect">
            <a:avLst/>
          </a:prstGeom>
        </p:spPr>
      </p:pic>
    </p:spTree>
    <p:extLst>
      <p:ext uri="{BB962C8B-B14F-4D97-AF65-F5344CB8AC3E}">
        <p14:creationId xmlns:p14="http://schemas.microsoft.com/office/powerpoint/2010/main" val="42545848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33DB6286-1B70-4E0C-B2C0-63FFDB80C08C}" type="datetime1">
              <a:rPr lang="en-US" smtClean="0"/>
              <a:t>12/9/2025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802050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13248D83-BA57-480C-A651-E1F12A52220D}" type="datetime1">
              <a:rPr lang="en-US" smtClean="0"/>
              <a:pPr/>
              <a:t>12/9/2025</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51585310"/>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ACF3309F-6B5C-4A0B-A24E-27CA187C6F22}" type="datetime1">
              <a:rPr lang="en-US" smtClean="0"/>
              <a:t>12/9/2025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441156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Statem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701540" y="852674"/>
            <a:ext cx="6704076" cy="5218942"/>
          </a:xfrm>
        </p:spPr>
        <p:txBody>
          <a:bodyPr anchor="b">
            <a:noAutofit/>
          </a:bodyPr>
          <a:lstStyle>
            <a:lvl1pPr marL="0" indent="0" algn="l">
              <a:lnSpc>
                <a:spcPct val="65000"/>
              </a:lnSpc>
              <a:buNone/>
              <a:defRPr lang="en-US" sz="5000" b="0" i="1" kern="1200" cap="all" baseline="0" dirty="0">
                <a:solidFill>
                  <a:schemeClr val="tx1"/>
                </a:solidFill>
                <a:latin typeface="+mj-lt"/>
                <a:ea typeface="+mj-ea"/>
                <a:cs typeface="+mj-cs"/>
              </a:defRPr>
            </a:lvl1pPr>
            <a:lvl2pPr marL="228600" indent="0" algn="l">
              <a:lnSpc>
                <a:spcPct val="65000"/>
              </a:lnSpc>
              <a:buNone/>
              <a:defRPr lang="en-US" sz="5000" b="0" i="1" kern="1200" cap="all" baseline="0" dirty="0">
                <a:solidFill>
                  <a:schemeClr val="tx1"/>
                </a:solidFill>
                <a:latin typeface="+mj-lt"/>
                <a:ea typeface="+mj-ea"/>
                <a:cs typeface="+mj-cs"/>
              </a:defRPr>
            </a:lvl2pPr>
            <a:lvl3pPr marL="457200" indent="0" algn="l">
              <a:lnSpc>
                <a:spcPct val="65000"/>
              </a:lnSpc>
              <a:buNone/>
              <a:defRPr lang="en-US" sz="5000" b="0" i="1" kern="1200" cap="all" baseline="0" dirty="0">
                <a:solidFill>
                  <a:schemeClr val="tx1"/>
                </a:solidFill>
                <a:latin typeface="+mj-lt"/>
                <a:ea typeface="+mj-ea"/>
                <a:cs typeface="+mj-cs"/>
              </a:defRPr>
            </a:lvl3pPr>
            <a:lvl4pPr marL="685800" indent="0" algn="l">
              <a:lnSpc>
                <a:spcPct val="65000"/>
              </a:lnSpc>
              <a:buNone/>
              <a:defRPr lang="en-US" sz="5000" b="0" i="1" kern="1200" cap="all" baseline="0" dirty="0">
                <a:solidFill>
                  <a:schemeClr val="tx1"/>
                </a:solidFill>
                <a:latin typeface="+mj-lt"/>
                <a:ea typeface="+mj-ea"/>
                <a:cs typeface="+mj-cs"/>
              </a:defRPr>
            </a:lvl4pPr>
            <a:lvl5pPr marL="914400" indent="0" algn="l">
              <a:lnSpc>
                <a:spcPct val="65000"/>
              </a:lnSpc>
              <a:buNone/>
              <a:defRPr lang="en-US" sz="5000" b="0" i="1" kern="1200" cap="all"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6F3C08D-1BEA-426E-8A12-EAC8B933B281}" type="datetime1">
              <a:rPr lang="en-US" smtClean="0"/>
              <a:pPr/>
              <a:t>12/9/2025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22" name="Shape 1">
            <a:extLst>
              <a:ext uri="{FF2B5EF4-FFF2-40B4-BE49-F238E27FC236}">
                <a16:creationId xmlns:a16="http://schemas.microsoft.com/office/drawing/2014/main" id="{AB8284D4-E410-0C16-3B21-75F959B42F1D}"/>
              </a:ext>
            </a:extLst>
          </p:cNvPr>
          <p:cNvSpPr/>
          <p:nvPr userDrawn="1"/>
        </p:nvSpPr>
        <p:spPr>
          <a:xfrm>
            <a:off x="679447" y="635364"/>
            <a:ext cx="482598" cy="482537"/>
          </a:xfrm>
          <a:prstGeom prst="ellipse">
            <a:avLst/>
          </a:prstGeom>
          <a:noFill/>
          <a:ln w="12700">
            <a:solidFill>
              <a:schemeClr val="tx1"/>
            </a:solidFill>
            <a:prstDash val="solid"/>
          </a:ln>
        </p:spPr>
        <p:txBody>
          <a:bodyPr/>
          <a:lstStyle/>
          <a:p>
            <a:endParaRPr lang="en-US" sz="900" dirty="0">
              <a:solidFill>
                <a:schemeClr val="tx2"/>
              </a:solidFill>
            </a:endParaRPr>
          </a:p>
        </p:txBody>
      </p:sp>
      <p:pic>
        <p:nvPicPr>
          <p:cNvPr id="23" name="Image 0" descr=" ">
            <a:extLst>
              <a:ext uri="{FF2B5EF4-FFF2-40B4-BE49-F238E27FC236}">
                <a16:creationId xmlns:a16="http://schemas.microsoft.com/office/drawing/2014/main" id="{2786DCB8-E15A-25F3-8114-B7D8D2289E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4084" y="852674"/>
            <a:ext cx="727369" cy="73313"/>
          </a:xfrm>
          <a:prstGeom prst="rect">
            <a:avLst/>
          </a:prstGeom>
        </p:spPr>
      </p:pic>
    </p:spTree>
    <p:extLst>
      <p:ext uri="{BB962C8B-B14F-4D97-AF65-F5344CB8AC3E}">
        <p14:creationId xmlns:p14="http://schemas.microsoft.com/office/powerpoint/2010/main" val="115046438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139938" y="419100"/>
            <a:ext cx="9125470" cy="5734812"/>
          </a:xfrm>
        </p:spPr>
        <p:txBody>
          <a:bodyPr anchor="b">
            <a:noAutofit/>
          </a:bodyPr>
          <a:lstStyle>
            <a:lvl1pPr marL="0" indent="0">
              <a:lnSpc>
                <a:spcPct val="65000"/>
              </a:lnSpc>
              <a:buNone/>
              <a:defRPr lang="en-US" sz="5000" b="0" i="1" kern="1200" cap="all" baseline="0" dirty="0">
                <a:solidFill>
                  <a:schemeClr val="tx1"/>
                </a:solidFill>
                <a:latin typeface="+mj-lt"/>
                <a:ea typeface="+mj-ea"/>
                <a:cs typeface="+mj-cs"/>
              </a:defRPr>
            </a:lvl1pPr>
            <a:lvl2pPr marL="228600" indent="0">
              <a:lnSpc>
                <a:spcPct val="65000"/>
              </a:lnSpc>
              <a:buNone/>
              <a:defRPr lang="en-US" sz="5000" b="0" i="1" kern="1200" cap="all" baseline="0" dirty="0">
                <a:solidFill>
                  <a:schemeClr val="tx1"/>
                </a:solidFill>
                <a:latin typeface="+mj-lt"/>
                <a:ea typeface="+mj-ea"/>
                <a:cs typeface="+mj-cs"/>
              </a:defRPr>
            </a:lvl2pPr>
            <a:lvl3pPr marL="457200" indent="0">
              <a:lnSpc>
                <a:spcPct val="65000"/>
              </a:lnSpc>
              <a:buNone/>
              <a:defRPr lang="en-US" sz="5000" b="0" i="1" kern="1200" cap="all" baseline="0" dirty="0">
                <a:solidFill>
                  <a:schemeClr val="tx1"/>
                </a:solidFill>
                <a:latin typeface="+mj-lt"/>
                <a:ea typeface="+mj-ea"/>
                <a:cs typeface="+mj-cs"/>
              </a:defRPr>
            </a:lvl3pPr>
            <a:lvl4pPr marL="685800" indent="0">
              <a:lnSpc>
                <a:spcPct val="65000"/>
              </a:lnSpc>
              <a:buNone/>
              <a:defRPr lang="en-US" sz="5000" b="0" i="1" kern="1200" cap="all" baseline="0" dirty="0">
                <a:solidFill>
                  <a:schemeClr val="tx1"/>
                </a:solidFill>
                <a:latin typeface="+mj-lt"/>
                <a:ea typeface="+mj-ea"/>
                <a:cs typeface="+mj-cs"/>
              </a:defRPr>
            </a:lvl4pPr>
            <a:lvl5pPr marL="914400" indent="0">
              <a:lnSpc>
                <a:spcPct val="65000"/>
              </a:lnSpc>
              <a:buNone/>
              <a:defRPr lang="en-US" sz="5000" b="0" i="1" kern="1200" cap="all"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07E503AD-2573-454F-BD0E-2D3DB950FC3B}" type="datetime1">
              <a:rPr lang="en-US" smtClean="0"/>
              <a:t>12/9/2025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6" name="Shape 1">
            <a:extLst>
              <a:ext uri="{FF2B5EF4-FFF2-40B4-BE49-F238E27FC236}">
                <a16:creationId xmlns:a16="http://schemas.microsoft.com/office/drawing/2014/main" id="{DF64F846-9D70-7948-0A9A-D23B58E67C1F}"/>
              </a:ext>
            </a:extLst>
          </p:cNvPr>
          <p:cNvSpPr/>
          <p:nvPr userDrawn="1"/>
        </p:nvSpPr>
        <p:spPr>
          <a:xfrm>
            <a:off x="679447" y="635364"/>
            <a:ext cx="482598" cy="482537"/>
          </a:xfrm>
          <a:prstGeom prst="ellipse">
            <a:avLst/>
          </a:prstGeom>
          <a:noFill/>
          <a:ln w="12700">
            <a:solidFill>
              <a:srgbClr val="113D61"/>
            </a:solidFill>
            <a:prstDash val="solid"/>
          </a:ln>
        </p:spPr>
        <p:txBody>
          <a:bodyPr/>
          <a:lstStyle/>
          <a:p>
            <a:endParaRPr lang="en-US" sz="900" dirty="0"/>
          </a:p>
        </p:txBody>
      </p:sp>
      <p:pic>
        <p:nvPicPr>
          <p:cNvPr id="8" name="Image 0" descr=" ">
            <a:extLst>
              <a:ext uri="{FF2B5EF4-FFF2-40B4-BE49-F238E27FC236}">
                <a16:creationId xmlns:a16="http://schemas.microsoft.com/office/drawing/2014/main" id="{9578DCE1-E8BD-87F6-A7B9-37851EB85B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4084" y="852674"/>
            <a:ext cx="727369" cy="73313"/>
          </a:xfrm>
          <a:prstGeom prst="rect">
            <a:avLst/>
          </a:prstGeom>
        </p:spPr>
      </p:pic>
    </p:spTree>
    <p:extLst>
      <p:ext uri="{BB962C8B-B14F-4D97-AF65-F5344CB8AC3E}">
        <p14:creationId xmlns:p14="http://schemas.microsoft.com/office/powerpoint/2010/main" val="11105898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139939" y="625120"/>
            <a:ext cx="6675932" cy="446558"/>
          </a:xfrm>
        </p:spPr>
        <p:txBody>
          <a:bodyPr anchor="ctr">
            <a:normAutofit/>
          </a:bodyPr>
          <a:lstStyle>
            <a:lvl1pPr>
              <a:lnSpc>
                <a:spcPct val="120000"/>
              </a:lnSpc>
              <a:defRPr sz="2000" i="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2139938" y="1746468"/>
            <a:ext cx="9069870" cy="4687806"/>
          </a:xfrm>
        </p:spPr>
        <p:txBody>
          <a:bodyPr anchor="t">
            <a:normAutofit/>
          </a:bodyPr>
          <a:lstStyle>
            <a:lvl1pPr marL="164592" indent="-164592">
              <a:lnSpc>
                <a:spcPct val="100000"/>
              </a:lnSpc>
              <a:spcBef>
                <a:spcPts val="0"/>
              </a:spcBef>
              <a:buNone/>
              <a:defRPr sz="5000" i="1"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6CC4A80-538B-4093-B891-E402591ADC09}" type="datetime1">
              <a:rPr lang="en-US" smtClean="0"/>
              <a:t>12/9/2025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Shape 1">
            <a:extLst>
              <a:ext uri="{FF2B5EF4-FFF2-40B4-BE49-F238E27FC236}">
                <a16:creationId xmlns:a16="http://schemas.microsoft.com/office/drawing/2014/main" id="{AF1FC064-1EF7-F6C3-E918-0DB191789005}"/>
              </a:ext>
            </a:extLst>
          </p:cNvPr>
          <p:cNvSpPr/>
          <p:nvPr/>
        </p:nvSpPr>
        <p:spPr>
          <a:xfrm>
            <a:off x="679447" y="635364"/>
            <a:ext cx="482598" cy="482537"/>
          </a:xfrm>
          <a:prstGeom prst="ellipse">
            <a:avLst/>
          </a:prstGeom>
          <a:noFill/>
          <a:ln w="12700">
            <a:solidFill>
              <a:srgbClr val="113D61"/>
            </a:solidFill>
            <a:prstDash val="solid"/>
          </a:ln>
        </p:spPr>
        <p:txBody>
          <a:bodyPr/>
          <a:lstStyle/>
          <a:p>
            <a:endParaRPr lang="en-US" sz="900" dirty="0"/>
          </a:p>
        </p:txBody>
      </p:sp>
      <p:pic>
        <p:nvPicPr>
          <p:cNvPr id="9" name="Image 0" descr=" ">
            <a:extLst>
              <a:ext uri="{FF2B5EF4-FFF2-40B4-BE49-F238E27FC236}">
                <a16:creationId xmlns:a16="http://schemas.microsoft.com/office/drawing/2014/main" id="{0944C70F-AA92-9A20-9499-4F304A0667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4084" y="852674"/>
            <a:ext cx="727369" cy="73313"/>
          </a:xfrm>
          <a:prstGeom prst="rect">
            <a:avLst/>
          </a:prstGeom>
        </p:spPr>
      </p:pic>
    </p:spTree>
    <p:extLst>
      <p:ext uri="{BB962C8B-B14F-4D97-AF65-F5344CB8AC3E}">
        <p14:creationId xmlns:p14="http://schemas.microsoft.com/office/powerpoint/2010/main" val="1671933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solidFill>
                  <a:schemeClr val="tx1"/>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B1EB763-80CA-44DF-BADD-E51CF4879EBA}" type="datetime1">
              <a:rPr lang="en-US" smtClean="0"/>
              <a:pPr/>
              <a:t>12/9/2025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11972869"/>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7A87457-CCFA-4CB7-AF73-1C00B72ACEFA}" type="datetime1">
              <a:rPr lang="en-US" smtClean="0"/>
              <a:pPr/>
              <a:t>12/9/2025</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89891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0936" y="548640"/>
            <a:ext cx="10930128" cy="1132258"/>
          </a:xfrm>
        </p:spPr>
        <p:txBody>
          <a:bodyPr>
            <a:noAutofit/>
          </a:bodyPr>
          <a:lstStyle>
            <a:lvl1pPr>
              <a:defRPr sz="5000"/>
            </a:lvl1p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0936"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379464"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61DA029-15C9-49C5-AE61-337B4CB298FB}" type="datetime1">
              <a:rPr lang="en-US" smtClean="0"/>
              <a:pPr/>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415896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7B6A390-CFE6-8675-47BC-3045FA547027}"/>
              </a:ext>
            </a:extLst>
          </p:cNvPr>
          <p:cNvSpPr>
            <a:spLocks noGrp="1"/>
          </p:cNvSpPr>
          <p:nvPr>
            <p:ph type="title"/>
          </p:nvPr>
        </p:nvSpPr>
        <p:spPr>
          <a:xfrm>
            <a:off x="630936" y="548640"/>
            <a:ext cx="10930128" cy="1132258"/>
          </a:xfrm>
        </p:spPr>
        <p:txBody>
          <a:bodyPr>
            <a:noAutofit/>
          </a:bodyPr>
          <a:lstStyle>
            <a:lvl1pPr>
              <a:defRPr sz="50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0936" y="1754332"/>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30936" y="2387600"/>
            <a:ext cx="51577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77876" y="1754332"/>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377876"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A7C4B114-1CEB-44E4-B4DC-0FE65F147252}" type="datetime1">
              <a:rPr lang="en-US" smtClean="0"/>
              <a:pPr/>
              <a:t>12/9/2025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0098403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373BA38-B2A9-A134-1305-92B26CF973FB}"/>
              </a:ext>
            </a:extLst>
          </p:cNvPr>
          <p:cNvSpPr>
            <a:spLocks noGrp="1"/>
          </p:cNvSpPr>
          <p:nvPr>
            <p:ph type="title"/>
          </p:nvPr>
        </p:nvSpPr>
        <p:spPr>
          <a:xfrm>
            <a:off x="630936" y="548640"/>
            <a:ext cx="10930128" cy="1132258"/>
          </a:xfrm>
        </p:spPr>
        <p:txBody>
          <a:bodyPr>
            <a:noAutofit/>
          </a:bodyPr>
          <a:lstStyle>
            <a:lvl1pPr>
              <a:defRPr sz="5000"/>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0C71428D-A792-4823-A426-07DC9CC2D5EF}" type="datetime1">
              <a:rPr lang="en-US" smtClean="0"/>
              <a:pPr/>
              <a:t>12/9/2025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857488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B572DF6E-DF24-4ABC-A778-6F43478B6361}" type="datetime1">
              <a:rPr lang="en-US" smtClean="0"/>
              <a:pPr/>
              <a:t>12/9/2025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6202108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2DD10DB0-052E-428E-9E35-0BF1448C4998}" type="datetime1">
              <a:rPr lang="en-US" smtClean="0"/>
              <a:pPr/>
              <a:t>12/9/2025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8483616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a:blip r:embed="rId2">
              <a:alphaModFix amt="50000"/>
              <a:extLst>
                <a:ext uri="{28A0092B-C50C-407E-A947-70E740481C1C}">
                  <a14:useLocalDpi xmlns:a14="http://schemas.microsoft.com/office/drawing/2010/main" val="0"/>
                </a:ext>
              </a:extLst>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BD789044-BABB-43A2-8C8F-E40E14C9D842}" type="datetime1">
              <a:rPr lang="en-US" smtClean="0"/>
              <a:pPr/>
              <a:t>12/9/2025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7391574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257300"/>
            <a:ext cx="8757924" cy="1723644"/>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73450"/>
            <a:ext cx="10890374" cy="2863849"/>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238684E-FC43-4B19-84BC-9DA97C82EAD4}" type="datetime1">
              <a:rPr lang="en-US" smtClean="0"/>
              <a:pPr/>
              <a:t>12/9/2025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6963763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Autofit/>
          </a:bodyPr>
          <a:lstStyle>
            <a:lvl1pPr marL="0" indent="0">
              <a:buNone/>
              <a:defRPr sz="2400">
                <a:solidFill>
                  <a:schemeClr val="tx1"/>
                </a:solidFill>
              </a:defRPr>
            </a:lvl1pPr>
            <a:lvl2pPr marL="228600" indent="0">
              <a:buNone/>
              <a:defRPr sz="2000">
                <a:solidFill>
                  <a:schemeClr val="tx1"/>
                </a:solidFill>
              </a:defRPr>
            </a:lvl2pPr>
            <a:lvl3pPr marL="457200" indent="0">
              <a:buNone/>
              <a:defRPr sz="1800">
                <a:solidFill>
                  <a:schemeClr val="tx1"/>
                </a:solidFill>
              </a:defRPr>
            </a:lvl3pPr>
            <a:lvl4pPr marL="685800" indent="0">
              <a:buNone/>
              <a:defRPr sz="16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2A5F431-D69D-47BB-ACFE-82303040D5B6}" type="datetime1">
              <a:rPr lang="en-US" smtClean="0"/>
              <a:pPr/>
              <a:t>12/9/2025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0574072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0C748914-8664-457B-A714-4A5A7F87DF93}" type="datetime1">
              <a:rPr lang="en-US" smtClean="0"/>
              <a:pPr/>
              <a:t>12/9/2025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6489926"/>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 id="2147483785" r:id="rId20"/>
    <p:sldLayoutId id="2147483786" r:id="rId21"/>
    <p:sldLayoutId id="2147483787" r:id="rId22"/>
    <p:sldLayoutId id="2147483788" r:id="rId23"/>
    <p:sldLayoutId id="2147483789" r:id="rId24"/>
    <p:sldLayoutId id="2147483790" r:id="rId25"/>
    <p:sldLayoutId id="2147483791" r:id="rId26"/>
    <p:sldLayoutId id="2147483792" r:id="rId27"/>
    <p:sldLayoutId id="2147483793" r:id="rId28"/>
    <p:sldLayoutId id="2147483794" r:id="rId29"/>
    <p:sldLayoutId id="2147483795" r:id="rId30"/>
    <p:sldLayoutId id="2147483796" r:id="rId31"/>
    <p:sldLayoutId id="2147483797" r:id="rId32"/>
    <p:sldLayoutId id="2147483798" r:id="rId33"/>
    <p:sldLayoutId id="2147483799" r:id="rId34"/>
    <p:sldLayoutId id="2147483800" r:id="rId35"/>
    <p:sldLayoutId id="2147483801" r:id="rId36"/>
    <p:sldLayoutId id="2147483802" r:id="rId37"/>
    <p:sldLayoutId id="2147483803" r:id="rId38"/>
    <p:sldLayoutId id="2147483804" r:id="rId39"/>
    <p:sldLayoutId id="2147483805" r:id="rId40"/>
    <p:sldLayoutId id="2147483806" r:id="rId41"/>
    <p:sldLayoutId id="2147483807" r:id="rId42"/>
    <p:sldLayoutId id="2147483808" r:id="rId43"/>
    <p:sldLayoutId id="2147483809" r:id="rId44"/>
    <p:sldLayoutId id="2147483810" r:id="rId45"/>
    <p:sldLayoutId id="2147483811" r:id="rId46"/>
    <p:sldLayoutId id="2147483812" r:id="rId47"/>
    <p:sldLayoutId id="2147483813" r:id="rId48"/>
    <p:sldLayoutId id="2147483814" r:id="rId49"/>
    <p:sldLayoutId id="2147483815" r:id="rId50"/>
  </p:sldLayoutIdLst>
  <p:hf sldNum="0" hdr="0" ftr="0" dt="0"/>
  <p:txStyles>
    <p:titleStyle>
      <a:lvl1pPr algn="l" defTabSz="914400" rtl="0" eaLnBrk="1" latinLnBrk="0" hangingPunct="1">
        <a:lnSpc>
          <a:spcPct val="80000"/>
        </a:lnSpc>
        <a:spcBef>
          <a:spcPct val="0"/>
        </a:spcBef>
        <a:buNone/>
        <a:defRPr sz="5000" b="0" i="1"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7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DA6434-D976-A5F1-05B0-1F61312FE1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2658" y="0"/>
            <a:ext cx="5906684" cy="6858000"/>
          </a:xfrm>
          <a:prstGeom prst="rect">
            <a:avLst/>
          </a:prstGeom>
        </p:spPr>
      </p:pic>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D9FB-B08B-6550-BEBF-B430741924E7}"/>
              </a:ext>
            </a:extLst>
          </p:cNvPr>
          <p:cNvSpPr>
            <a:spLocks noGrp="1"/>
          </p:cNvSpPr>
          <p:nvPr>
            <p:ph type="title"/>
          </p:nvPr>
        </p:nvSpPr>
        <p:spPr>
          <a:xfrm>
            <a:off x="922786" y="439330"/>
            <a:ext cx="6303475" cy="1322744"/>
          </a:xfrm>
        </p:spPr>
        <p:txBody>
          <a:bodyPr/>
          <a:lstStyle/>
          <a:p>
            <a:r>
              <a:rPr lang="en-US" dirty="0"/>
              <a:t>agenda</a:t>
            </a:r>
          </a:p>
        </p:txBody>
      </p:sp>
      <p:sp>
        <p:nvSpPr>
          <p:cNvPr id="3" name="Content Placeholder 2">
            <a:extLst>
              <a:ext uri="{FF2B5EF4-FFF2-40B4-BE49-F238E27FC236}">
                <a16:creationId xmlns:a16="http://schemas.microsoft.com/office/drawing/2014/main" id="{79BC7904-BA22-561E-1DE0-8E716FCEA69E}"/>
              </a:ext>
            </a:extLst>
          </p:cNvPr>
          <p:cNvSpPr>
            <a:spLocks noGrp="1"/>
          </p:cNvSpPr>
          <p:nvPr>
            <p:ph sz="quarter" idx="13"/>
          </p:nvPr>
        </p:nvSpPr>
        <p:spPr>
          <a:xfrm>
            <a:off x="922785" y="1762074"/>
            <a:ext cx="6303475" cy="4179872"/>
          </a:xfrm>
        </p:spPr>
        <p:txBody>
          <a:bodyPr/>
          <a:lstStyle/>
          <a:p>
            <a:endParaRPr lang="en-US" dirty="0"/>
          </a:p>
          <a:p>
            <a:r>
              <a:rPr lang="en-US" dirty="0"/>
              <a:t>Who is </a:t>
            </a:r>
            <a:r>
              <a:rPr lang="en-US" b="1" u="sng" dirty="0"/>
              <a:t>d10 IT Solutions</a:t>
            </a:r>
          </a:p>
          <a:p>
            <a:r>
              <a:rPr lang="en-US" dirty="0"/>
              <a:t>Problems Companies Face</a:t>
            </a:r>
          </a:p>
          <a:p>
            <a:r>
              <a:rPr lang="en-US" dirty="0"/>
              <a:t>Our Services</a:t>
            </a:r>
          </a:p>
          <a:p>
            <a:r>
              <a:rPr lang="en-US" dirty="0"/>
              <a:t>Why d10 IT Solutions</a:t>
            </a:r>
          </a:p>
          <a:p>
            <a:r>
              <a:rPr lang="en-US" strike="sngStrike" dirty="0"/>
              <a:t>Tools we Use</a:t>
            </a:r>
          </a:p>
          <a:p>
            <a:r>
              <a:rPr lang="en-US" dirty="0"/>
              <a:t>Pricing Models</a:t>
            </a:r>
          </a:p>
          <a:p>
            <a:r>
              <a:rPr lang="en-US" dirty="0"/>
              <a:t>Next Steps</a:t>
            </a:r>
          </a:p>
        </p:txBody>
      </p:sp>
      <p:sp>
        <p:nvSpPr>
          <p:cNvPr id="5" name="Picture Placeholder 4">
            <a:extLst>
              <a:ext uri="{FF2B5EF4-FFF2-40B4-BE49-F238E27FC236}">
                <a16:creationId xmlns:a16="http://schemas.microsoft.com/office/drawing/2014/main" id="{DE7DA22A-D4B1-01F2-1759-10D64F07C5C2}"/>
              </a:ext>
            </a:extLst>
          </p:cNvPr>
          <p:cNvSpPr>
            <a:spLocks noGrp="1"/>
          </p:cNvSpPr>
          <p:nvPr>
            <p:ph type="pic" sz="quarter" idx="14"/>
          </p:nvPr>
        </p:nvSpPr>
        <p:spPr/>
        <p:txBody>
          <a:bodyPr/>
          <a:lstStyle/>
          <a:p>
            <a:endParaRPr lang="en-US"/>
          </a:p>
        </p:txBody>
      </p:sp>
    </p:spTree>
    <p:extLst>
      <p:ext uri="{BB962C8B-B14F-4D97-AF65-F5344CB8AC3E}">
        <p14:creationId xmlns:p14="http://schemas.microsoft.com/office/powerpoint/2010/main" val="1545177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7084-C959-6935-0D99-455326A78F99}"/>
              </a:ext>
            </a:extLst>
          </p:cNvPr>
          <p:cNvSpPr>
            <a:spLocks noGrp="1"/>
          </p:cNvSpPr>
          <p:nvPr>
            <p:ph type="title"/>
          </p:nvPr>
        </p:nvSpPr>
        <p:spPr/>
        <p:txBody>
          <a:bodyPr>
            <a:normAutofit fontScale="90000"/>
          </a:bodyPr>
          <a:lstStyle/>
          <a:p>
            <a:pPr algn="ctr"/>
            <a:r>
              <a:rPr lang="en-US" sz="9600" dirty="0"/>
              <a:t>Introduction</a:t>
            </a:r>
          </a:p>
        </p:txBody>
      </p:sp>
      <p:sp>
        <p:nvSpPr>
          <p:cNvPr id="7" name="Content Placeholder 6">
            <a:extLst>
              <a:ext uri="{FF2B5EF4-FFF2-40B4-BE49-F238E27FC236}">
                <a16:creationId xmlns:a16="http://schemas.microsoft.com/office/drawing/2014/main" id="{DA75C604-AD0B-9621-A1F6-F67D5EB472B1}"/>
              </a:ext>
            </a:extLst>
          </p:cNvPr>
          <p:cNvSpPr>
            <a:spLocks noGrp="1"/>
          </p:cNvSpPr>
          <p:nvPr>
            <p:ph idx="1"/>
          </p:nvPr>
        </p:nvSpPr>
        <p:spPr>
          <a:xfrm>
            <a:off x="7957645" y="3534872"/>
            <a:ext cx="3462047" cy="1849655"/>
          </a:xfrm>
        </p:spPr>
        <p:txBody>
          <a:bodyPr>
            <a:normAutofit/>
          </a:bodyPr>
          <a:lstStyle/>
          <a:p>
            <a:r>
              <a:rPr lang="en-US" dirty="0"/>
              <a:t>To become the most trusted IT partner in Durbanville and surrounding regions by providing proactive, transparent, and customer-centric IT solutions.</a:t>
            </a:r>
          </a:p>
        </p:txBody>
      </p:sp>
      <p:sp>
        <p:nvSpPr>
          <p:cNvPr id="8" name="Title 1">
            <a:extLst>
              <a:ext uri="{FF2B5EF4-FFF2-40B4-BE49-F238E27FC236}">
                <a16:creationId xmlns:a16="http://schemas.microsoft.com/office/drawing/2014/main" id="{83267E29-24E2-EE63-8FEE-CA840D37636E}"/>
              </a:ext>
            </a:extLst>
          </p:cNvPr>
          <p:cNvSpPr txBox="1">
            <a:spLocks/>
          </p:cNvSpPr>
          <p:nvPr/>
        </p:nvSpPr>
        <p:spPr>
          <a:xfrm>
            <a:off x="612647" y="2674219"/>
            <a:ext cx="3142728" cy="866272"/>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sz="5000" b="0" i="1" kern="1200" cap="all" baseline="0">
                <a:solidFill>
                  <a:schemeClr val="tx1"/>
                </a:solidFill>
                <a:latin typeface="+mj-lt"/>
                <a:ea typeface="+mj-ea"/>
                <a:cs typeface="+mj-cs"/>
              </a:defRPr>
            </a:lvl1pPr>
          </a:lstStyle>
          <a:p>
            <a:pPr algn="ctr"/>
            <a:r>
              <a:rPr lang="en-US" sz="5400" dirty="0"/>
              <a:t>vision</a:t>
            </a:r>
          </a:p>
        </p:txBody>
      </p:sp>
      <p:sp>
        <p:nvSpPr>
          <p:cNvPr id="10" name="Title 1">
            <a:extLst>
              <a:ext uri="{FF2B5EF4-FFF2-40B4-BE49-F238E27FC236}">
                <a16:creationId xmlns:a16="http://schemas.microsoft.com/office/drawing/2014/main" id="{C58A2ABE-7391-6943-961F-6F14CF48CCB5}"/>
              </a:ext>
            </a:extLst>
          </p:cNvPr>
          <p:cNvSpPr txBox="1">
            <a:spLocks/>
          </p:cNvSpPr>
          <p:nvPr/>
        </p:nvSpPr>
        <p:spPr>
          <a:xfrm>
            <a:off x="8117305" y="2668604"/>
            <a:ext cx="3142728" cy="866272"/>
          </a:xfrm>
          <a:prstGeom prst="rect">
            <a:avLst/>
          </a:prstGeom>
        </p:spPr>
        <p:txBody>
          <a:bodyPr vert="horz" lIns="91440" tIns="45720" rIns="91440" bIns="45720" rtlCol="0" anchor="t">
            <a:normAutofit fontScale="90000"/>
          </a:bodyPr>
          <a:lstStyle>
            <a:lvl1pPr algn="l" defTabSz="914400" rtl="0" eaLnBrk="1" latinLnBrk="0" hangingPunct="1">
              <a:lnSpc>
                <a:spcPct val="80000"/>
              </a:lnSpc>
              <a:spcBef>
                <a:spcPct val="0"/>
              </a:spcBef>
              <a:buNone/>
              <a:defRPr sz="5000" b="0" i="1" kern="1200" cap="all" baseline="0">
                <a:solidFill>
                  <a:schemeClr val="tx1"/>
                </a:solidFill>
                <a:latin typeface="+mj-lt"/>
                <a:ea typeface="+mj-ea"/>
                <a:cs typeface="+mj-cs"/>
              </a:defRPr>
            </a:lvl1pPr>
          </a:lstStyle>
          <a:p>
            <a:pPr algn="ctr"/>
            <a:r>
              <a:rPr lang="en-US" sz="5400" dirty="0"/>
              <a:t>Mission</a:t>
            </a:r>
          </a:p>
        </p:txBody>
      </p:sp>
      <p:sp>
        <p:nvSpPr>
          <p:cNvPr id="11" name="Content Placeholder 6">
            <a:extLst>
              <a:ext uri="{FF2B5EF4-FFF2-40B4-BE49-F238E27FC236}">
                <a16:creationId xmlns:a16="http://schemas.microsoft.com/office/drawing/2014/main" id="{079E3F50-9319-3E10-6727-94D50FE3ED2E}"/>
              </a:ext>
            </a:extLst>
          </p:cNvPr>
          <p:cNvSpPr txBox="1">
            <a:spLocks/>
          </p:cNvSpPr>
          <p:nvPr/>
        </p:nvSpPr>
        <p:spPr>
          <a:xfrm>
            <a:off x="452987" y="3534875"/>
            <a:ext cx="3462047" cy="184965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7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 deliver secure, stable, and efficient IT systems that empower businesses to operate confidently and without disruptions.</a:t>
            </a:r>
          </a:p>
        </p:txBody>
      </p:sp>
      <p:sp>
        <p:nvSpPr>
          <p:cNvPr id="14" name="Title 1">
            <a:extLst>
              <a:ext uri="{FF2B5EF4-FFF2-40B4-BE49-F238E27FC236}">
                <a16:creationId xmlns:a16="http://schemas.microsoft.com/office/drawing/2014/main" id="{33CEFCD6-5742-FE61-AFAB-57797831A0EB}"/>
              </a:ext>
            </a:extLst>
          </p:cNvPr>
          <p:cNvSpPr txBox="1">
            <a:spLocks/>
          </p:cNvSpPr>
          <p:nvPr/>
        </p:nvSpPr>
        <p:spPr>
          <a:xfrm>
            <a:off x="4524635" y="1680898"/>
            <a:ext cx="3142728" cy="866272"/>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sz="5000" b="0" i="1" kern="1200" cap="all" baseline="0">
                <a:solidFill>
                  <a:schemeClr val="tx1"/>
                </a:solidFill>
                <a:latin typeface="+mj-lt"/>
                <a:ea typeface="+mj-ea"/>
                <a:cs typeface="+mj-cs"/>
              </a:defRPr>
            </a:lvl1pPr>
          </a:lstStyle>
          <a:p>
            <a:pPr algn="ctr"/>
            <a:r>
              <a:rPr lang="en-US" sz="5400" dirty="0"/>
              <a:t>about</a:t>
            </a:r>
          </a:p>
        </p:txBody>
      </p:sp>
      <p:sp>
        <p:nvSpPr>
          <p:cNvPr id="15" name="Content Placeholder 6">
            <a:extLst>
              <a:ext uri="{FF2B5EF4-FFF2-40B4-BE49-F238E27FC236}">
                <a16:creationId xmlns:a16="http://schemas.microsoft.com/office/drawing/2014/main" id="{E34484BE-40BE-DA1F-5272-C08C43097E36}"/>
              </a:ext>
            </a:extLst>
          </p:cNvPr>
          <p:cNvSpPr txBox="1">
            <a:spLocks/>
          </p:cNvSpPr>
          <p:nvPr/>
        </p:nvSpPr>
        <p:spPr>
          <a:xfrm>
            <a:off x="4394014" y="2669246"/>
            <a:ext cx="3462047" cy="358091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17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d10</a:t>
            </a:r>
            <a:r>
              <a:rPr lang="en-US" dirty="0"/>
              <a:t> IT Solutions provides modern, reliable and security-focused IT support to home users, small businesses and growing organizations. We specialize in delivering stable, scalable, and secure environments through professional ITIL aligned service delivery, Agile workflows, and Lean continuous-improvement methods.</a:t>
            </a:r>
          </a:p>
        </p:txBody>
      </p:sp>
    </p:spTree>
    <p:extLst>
      <p:ext uri="{BB962C8B-B14F-4D97-AF65-F5344CB8AC3E}">
        <p14:creationId xmlns:p14="http://schemas.microsoft.com/office/powerpoint/2010/main" val="1751885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77627-0DFA-A288-A8A7-0523BF843A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BC1FB-75D7-2D2F-F34C-61CC17ADA7A0}"/>
              </a:ext>
            </a:extLst>
          </p:cNvPr>
          <p:cNvSpPr>
            <a:spLocks noGrp="1"/>
          </p:cNvSpPr>
          <p:nvPr>
            <p:ph type="title"/>
          </p:nvPr>
        </p:nvSpPr>
        <p:spPr>
          <a:xfrm>
            <a:off x="630936" y="548639"/>
            <a:ext cx="3494314" cy="5719639"/>
          </a:xfrm>
        </p:spPr>
        <p:txBody>
          <a:bodyPr>
            <a:normAutofit/>
          </a:bodyPr>
          <a:lstStyle/>
          <a:p>
            <a:r>
              <a:rPr lang="en-US" sz="4000" dirty="0"/>
              <a:t>Why d10 IT Solutions?</a:t>
            </a:r>
          </a:p>
        </p:txBody>
      </p:sp>
      <p:sp>
        <p:nvSpPr>
          <p:cNvPr id="10" name="Content Placeholder 9">
            <a:extLst>
              <a:ext uri="{FF2B5EF4-FFF2-40B4-BE49-F238E27FC236}">
                <a16:creationId xmlns:a16="http://schemas.microsoft.com/office/drawing/2014/main" id="{5153F4AE-3297-B4EE-F918-97DB6A6706F5}"/>
              </a:ext>
            </a:extLst>
          </p:cNvPr>
          <p:cNvSpPr>
            <a:spLocks noGrp="1"/>
          </p:cNvSpPr>
          <p:nvPr>
            <p:ph sz="quarter" idx="13"/>
          </p:nvPr>
        </p:nvSpPr>
        <p:spPr>
          <a:xfrm>
            <a:off x="4504268" y="549274"/>
            <a:ext cx="7315200" cy="5806440"/>
          </a:xfrm>
        </p:spPr>
        <p:txBody>
          <a:bodyPr vert="horz" lIns="91440" tIns="45720" rIns="91440" bIns="45720" rtlCol="0" anchor="t">
            <a:normAutofit/>
          </a:bodyPr>
          <a:lstStyle/>
          <a:p>
            <a:pPr lvl="0"/>
            <a:r>
              <a:rPr lang="en-US" b="1" dirty="0"/>
              <a:t>Faster response times</a:t>
            </a:r>
            <a:br>
              <a:rPr lang="en-US" dirty="0"/>
            </a:br>
            <a:r>
              <a:rPr lang="en-US" dirty="0"/>
              <a:t>We are always on(line) this means you have 24/7 access to world class IT service both during office hours and after office hours</a:t>
            </a:r>
          </a:p>
          <a:p>
            <a:pPr lvl="0"/>
            <a:r>
              <a:rPr lang="en-US" b="1" dirty="0"/>
              <a:t>Personal service</a:t>
            </a:r>
            <a:br>
              <a:rPr lang="en-US" dirty="0"/>
            </a:br>
            <a:r>
              <a:rPr lang="en-US" dirty="0"/>
              <a:t>Yes, we use the latest technology but rest assured, you will always speak to a human</a:t>
            </a:r>
          </a:p>
          <a:p>
            <a:pPr lvl="0"/>
            <a:r>
              <a:rPr lang="en-US" b="1" dirty="0"/>
              <a:t>Proactive monitoring</a:t>
            </a:r>
            <a:br>
              <a:rPr lang="en-US" dirty="0"/>
            </a:br>
            <a:r>
              <a:rPr lang="en-US" dirty="0"/>
              <a:t>We have the latest technology monitoring your system, proactively, ensuring that we remain the best service providers in the area</a:t>
            </a:r>
          </a:p>
          <a:p>
            <a:pPr lvl="0"/>
            <a:r>
              <a:rPr lang="en-US" b="1" dirty="0"/>
              <a:t>ITIL-aligned workflows</a:t>
            </a:r>
            <a:br>
              <a:rPr lang="en-US" dirty="0"/>
            </a:br>
            <a:r>
              <a:rPr lang="en-US" dirty="0"/>
              <a:t>Continuous improvement, progress iteratively</a:t>
            </a:r>
          </a:p>
          <a:p>
            <a:pPr lvl="0"/>
            <a:r>
              <a:rPr lang="en-US" b="1" dirty="0"/>
              <a:t>Security-first mindset</a:t>
            </a:r>
            <a:br>
              <a:rPr lang="en-US" b="1" dirty="0"/>
            </a:br>
            <a:r>
              <a:rPr lang="en-US" dirty="0"/>
              <a:t>We live in a modern age of Intelligent tech, we need to implement intelligent solutions.</a:t>
            </a:r>
            <a:endParaRPr lang="en-US" b="1" dirty="0"/>
          </a:p>
        </p:txBody>
      </p:sp>
    </p:spTree>
    <p:extLst>
      <p:ext uri="{BB962C8B-B14F-4D97-AF65-F5344CB8AC3E}">
        <p14:creationId xmlns:p14="http://schemas.microsoft.com/office/powerpoint/2010/main" val="1872708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072A-5F3E-FB56-A498-3CACC2BCD40B}"/>
              </a:ext>
            </a:extLst>
          </p:cNvPr>
          <p:cNvSpPr>
            <a:spLocks noGrp="1"/>
          </p:cNvSpPr>
          <p:nvPr>
            <p:ph type="title"/>
          </p:nvPr>
        </p:nvSpPr>
        <p:spPr>
          <a:xfrm>
            <a:off x="7094553" y="320040"/>
            <a:ext cx="4522936" cy="1667510"/>
          </a:xfrm>
        </p:spPr>
        <p:txBody>
          <a:bodyPr/>
          <a:lstStyle/>
          <a:p>
            <a:r>
              <a:rPr lang="en-US" dirty="0"/>
              <a:t>Our Services</a:t>
            </a:r>
          </a:p>
        </p:txBody>
      </p:sp>
      <p:sp>
        <p:nvSpPr>
          <p:cNvPr id="4" name="Content Placeholder 3">
            <a:extLst>
              <a:ext uri="{FF2B5EF4-FFF2-40B4-BE49-F238E27FC236}">
                <a16:creationId xmlns:a16="http://schemas.microsoft.com/office/drawing/2014/main" id="{42DE842F-FDC7-B259-9F3B-88630D44DFA3}"/>
              </a:ext>
            </a:extLst>
          </p:cNvPr>
          <p:cNvSpPr>
            <a:spLocks noGrp="1"/>
          </p:cNvSpPr>
          <p:nvPr>
            <p:ph sz="quarter" idx="14"/>
          </p:nvPr>
        </p:nvSpPr>
        <p:spPr>
          <a:xfrm>
            <a:off x="7104888" y="2178050"/>
            <a:ext cx="4512601" cy="4186174"/>
          </a:xfrm>
        </p:spPr>
        <p:txBody>
          <a:bodyPr>
            <a:normAutofit/>
          </a:bodyPr>
          <a:lstStyle/>
          <a:p>
            <a:endParaRPr lang="en-US" b="1" dirty="0"/>
          </a:p>
          <a:p>
            <a:r>
              <a:rPr lang="en-US" b="1" dirty="0"/>
              <a:t>IT Support &amp; Maintenance</a:t>
            </a:r>
            <a:br>
              <a:rPr lang="en-US" b="1" dirty="0"/>
            </a:br>
            <a:endParaRPr lang="en-US" b="1" dirty="0"/>
          </a:p>
          <a:p>
            <a:r>
              <a:rPr lang="en-US" b="1" dirty="0"/>
              <a:t>Cybersecurity Services</a:t>
            </a:r>
            <a:br>
              <a:rPr lang="en-US" b="1" dirty="0"/>
            </a:br>
            <a:endParaRPr lang="en-US" b="1" dirty="0"/>
          </a:p>
          <a:p>
            <a:r>
              <a:rPr lang="en-US" b="1" dirty="0"/>
              <a:t>Cloud &amp; Automation</a:t>
            </a:r>
            <a:br>
              <a:rPr lang="en-US" b="1" dirty="0"/>
            </a:br>
            <a:endParaRPr lang="en-US" b="1" dirty="0"/>
          </a:p>
          <a:p>
            <a:r>
              <a:rPr lang="en-US" b="1" dirty="0"/>
              <a:t>Infrastructure Services</a:t>
            </a:r>
            <a:br>
              <a:rPr lang="en-US" b="1" dirty="0"/>
            </a:br>
            <a:endParaRPr lang="en-US" b="1" dirty="0"/>
          </a:p>
          <a:p>
            <a:r>
              <a:rPr lang="en-US" b="1" dirty="0"/>
              <a:t>Monitoring &amp; Reporting</a:t>
            </a:r>
            <a:br>
              <a:rPr lang="en-US" dirty="0"/>
            </a:br>
            <a:endParaRPr lang="en-US" dirty="0"/>
          </a:p>
        </p:txBody>
      </p:sp>
      <p:sp>
        <p:nvSpPr>
          <p:cNvPr id="5" name="Picture Placeholder 4">
            <a:extLst>
              <a:ext uri="{FF2B5EF4-FFF2-40B4-BE49-F238E27FC236}">
                <a16:creationId xmlns:a16="http://schemas.microsoft.com/office/drawing/2014/main" id="{25C0051E-3649-D554-741A-49B3098787DA}"/>
              </a:ext>
            </a:extLst>
          </p:cNvPr>
          <p:cNvSpPr>
            <a:spLocks noGrp="1"/>
          </p:cNvSpPr>
          <p:nvPr>
            <p:ph type="pic" sz="quarter" idx="13"/>
          </p:nvPr>
        </p:nvSpPr>
        <p:spPr>
          <a:xfrm>
            <a:off x="1" y="0"/>
            <a:ext cx="5097447" cy="6858000"/>
          </a:xfrm>
        </p:spPr>
        <p:txBody>
          <a:bodyPr/>
          <a:lstStyle/>
          <a:p>
            <a:endParaRPr lang="en-US"/>
          </a:p>
        </p:txBody>
      </p:sp>
    </p:spTree>
    <p:extLst>
      <p:ext uri="{BB962C8B-B14F-4D97-AF65-F5344CB8AC3E}">
        <p14:creationId xmlns:p14="http://schemas.microsoft.com/office/powerpoint/2010/main" val="948600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887DED8-6AE1-68B6-2A8B-7B962CA7F14B}"/>
              </a:ext>
            </a:extLst>
          </p:cNvPr>
          <p:cNvSpPr>
            <a:spLocks noGrp="1"/>
          </p:cNvSpPr>
          <p:nvPr>
            <p:ph type="title"/>
          </p:nvPr>
        </p:nvSpPr>
        <p:spPr>
          <a:xfrm>
            <a:off x="630936" y="548639"/>
            <a:ext cx="3494314" cy="5719639"/>
          </a:xfrm>
        </p:spPr>
        <p:txBody>
          <a:bodyPr>
            <a:normAutofit/>
          </a:bodyPr>
          <a:lstStyle/>
          <a:p>
            <a:r>
              <a:rPr lang="en-US" sz="4000" dirty="0"/>
              <a:t>Common problems faced by customers</a:t>
            </a:r>
            <a:br>
              <a:rPr lang="en-US" sz="4000" dirty="0"/>
            </a:br>
            <a:r>
              <a:rPr lang="en-US" sz="4000" dirty="0"/>
              <a:t>(1)</a:t>
            </a:r>
          </a:p>
        </p:txBody>
      </p:sp>
      <p:sp>
        <p:nvSpPr>
          <p:cNvPr id="10" name="Content Placeholder 9">
            <a:extLst>
              <a:ext uri="{FF2B5EF4-FFF2-40B4-BE49-F238E27FC236}">
                <a16:creationId xmlns:a16="http://schemas.microsoft.com/office/drawing/2014/main" id="{75AE507D-4CB8-AC6C-888A-88AAAAA0BC2D}"/>
              </a:ext>
            </a:extLst>
          </p:cNvPr>
          <p:cNvSpPr>
            <a:spLocks noGrp="1"/>
          </p:cNvSpPr>
          <p:nvPr>
            <p:ph sz="quarter" idx="13"/>
          </p:nvPr>
        </p:nvSpPr>
        <p:spPr>
          <a:xfrm>
            <a:off x="4504268" y="549274"/>
            <a:ext cx="7315200" cy="5806440"/>
          </a:xfrm>
        </p:spPr>
        <p:txBody>
          <a:bodyPr vert="horz" lIns="91440" tIns="45720" rIns="91440" bIns="45720" rtlCol="0" anchor="t">
            <a:normAutofit fontScale="92500" lnSpcReduction="20000"/>
          </a:bodyPr>
          <a:lstStyle/>
          <a:p>
            <a:pPr marL="342900" indent="-342900">
              <a:buFont typeface="Arial" panose="020B0604020202020204" pitchFamily="34" charset="0"/>
              <a:buChar char="•"/>
            </a:pPr>
            <a:r>
              <a:rPr lang="en-US" sz="1400" b="1" dirty="0"/>
              <a:t>Slow or Underperforming Computers</a:t>
            </a:r>
            <a:br>
              <a:rPr lang="en-US" sz="1400" b="1" dirty="0"/>
            </a:br>
            <a:r>
              <a:rPr lang="en-US" sz="1400" dirty="0"/>
              <a:t>Old hardware not upgraded</a:t>
            </a:r>
            <a:br>
              <a:rPr lang="en-US" sz="1400" dirty="0"/>
            </a:br>
            <a:r>
              <a:rPr lang="en-US" sz="1400" dirty="0"/>
              <a:t>Too many startup apps</a:t>
            </a:r>
            <a:br>
              <a:rPr lang="en-US" sz="1400" dirty="0"/>
            </a:br>
            <a:r>
              <a:rPr lang="en-US" sz="1400" dirty="0"/>
              <a:t>Fragmented or nearly full storage</a:t>
            </a:r>
            <a:br>
              <a:rPr lang="en-US" sz="1400" dirty="0"/>
            </a:br>
            <a:r>
              <a:rPr lang="en-US" sz="1400" dirty="0"/>
              <a:t>Outdated OS or drivers</a:t>
            </a:r>
          </a:p>
          <a:p>
            <a:pPr marL="342900" indent="-342900">
              <a:buFont typeface="Arial" panose="020B0604020202020204" pitchFamily="34" charset="0"/>
              <a:buChar char="•"/>
            </a:pPr>
            <a:r>
              <a:rPr lang="en-US" sz="1400" b="1" dirty="0"/>
              <a:t>Wi-Fi Dead Zones &amp; Weak Signals</a:t>
            </a:r>
            <a:br>
              <a:rPr lang="en-US" sz="1400" b="1" dirty="0"/>
            </a:br>
            <a:r>
              <a:rPr lang="en-US" sz="1400" dirty="0"/>
              <a:t>Large homes with thick walls</a:t>
            </a:r>
            <a:br>
              <a:rPr lang="en-US" sz="1400" dirty="0"/>
            </a:br>
            <a:r>
              <a:rPr lang="en-US" sz="1400" dirty="0"/>
              <a:t>Poor router placement</a:t>
            </a:r>
            <a:br>
              <a:rPr lang="en-US" sz="1400" dirty="0"/>
            </a:br>
            <a:r>
              <a:rPr lang="en-US" sz="1400" dirty="0"/>
              <a:t>Old routers that don’t support modern speeds</a:t>
            </a:r>
            <a:br>
              <a:rPr lang="en-US" sz="1400" dirty="0"/>
            </a:br>
            <a:r>
              <a:rPr lang="en-US" sz="1400" dirty="0"/>
              <a:t>Interference from neighbouring networks (very common in suburbs)</a:t>
            </a:r>
          </a:p>
          <a:p>
            <a:pPr marL="342900" indent="-342900">
              <a:buFont typeface="Arial" panose="020B0604020202020204" pitchFamily="34" charset="0"/>
              <a:buChar char="•"/>
            </a:pPr>
            <a:r>
              <a:rPr lang="en-US" sz="1400" b="1" dirty="0"/>
              <a:t>Internet Drops or Unstable Fibre</a:t>
            </a:r>
            <a:br>
              <a:rPr lang="en-US" sz="1400" b="1" dirty="0"/>
            </a:br>
            <a:r>
              <a:rPr lang="en-US" sz="1400" dirty="0"/>
              <a:t>ONT/router sync issues</a:t>
            </a:r>
            <a:br>
              <a:rPr lang="en-US" sz="1400" dirty="0"/>
            </a:br>
            <a:r>
              <a:rPr lang="en-US" sz="1400" dirty="0"/>
              <a:t>Incorrect router configuration</a:t>
            </a:r>
            <a:br>
              <a:rPr lang="en-US" sz="1400" dirty="0"/>
            </a:br>
            <a:r>
              <a:rPr lang="en-US" sz="1400" dirty="0"/>
              <a:t>ISP misconfigurations</a:t>
            </a:r>
            <a:br>
              <a:rPr lang="en-US" sz="1400" dirty="0"/>
            </a:br>
            <a:r>
              <a:rPr lang="en-US" sz="1400" dirty="0"/>
              <a:t>Poor-quality home network cabling</a:t>
            </a:r>
          </a:p>
          <a:p>
            <a:pPr marL="342900" indent="-342900">
              <a:buFont typeface="Arial" panose="020B0604020202020204" pitchFamily="34" charset="0"/>
              <a:buChar char="•"/>
            </a:pPr>
            <a:r>
              <a:rPr lang="en-US" sz="1400" b="1" dirty="0"/>
              <a:t>Security Vulnerabilities</a:t>
            </a:r>
            <a:br>
              <a:rPr lang="en-US" sz="1400" b="1" dirty="0"/>
            </a:br>
            <a:r>
              <a:rPr lang="en-US" sz="1400" dirty="0"/>
              <a:t>No antivirus or outdated protection</a:t>
            </a:r>
            <a:br>
              <a:rPr lang="en-US" sz="1400" dirty="0"/>
            </a:br>
            <a:r>
              <a:rPr lang="en-US" sz="1400" dirty="0"/>
              <a:t>Unsecured Wi-Fi passwords</a:t>
            </a:r>
            <a:br>
              <a:rPr lang="en-US" sz="1400" dirty="0"/>
            </a:br>
            <a:r>
              <a:rPr lang="en-US" sz="1400" dirty="0"/>
              <a:t>Weak router admin credentials</a:t>
            </a:r>
            <a:br>
              <a:rPr lang="en-US" sz="1400" dirty="0"/>
            </a:br>
            <a:r>
              <a:rPr lang="en-US" sz="1400" dirty="0"/>
              <a:t>Phishing and scam attacks targeting residents</a:t>
            </a:r>
          </a:p>
          <a:p>
            <a:pPr marL="342900" indent="-342900">
              <a:buFont typeface="Arial" panose="020B0604020202020204" pitchFamily="34" charset="0"/>
              <a:buChar char="•"/>
            </a:pPr>
            <a:r>
              <a:rPr lang="en-US" sz="1400" b="1" dirty="0"/>
              <a:t>Printer Issues</a:t>
            </a:r>
            <a:br>
              <a:rPr lang="en-US" sz="1400" b="1" dirty="0"/>
            </a:br>
            <a:r>
              <a:rPr lang="en-US" sz="1400" dirty="0"/>
              <a:t>Wi-Fi printers frequently disconnecting</a:t>
            </a:r>
            <a:br>
              <a:rPr lang="en-US" sz="1400" dirty="0"/>
            </a:br>
            <a:r>
              <a:rPr lang="en-US" sz="1400" dirty="0"/>
              <a:t>Driver problems</a:t>
            </a:r>
            <a:br>
              <a:rPr lang="en-US" sz="1400" dirty="0"/>
            </a:br>
            <a:r>
              <a:rPr lang="en-US" sz="1400" dirty="0"/>
              <a:t>Incorrect network configuration</a:t>
            </a:r>
            <a:br>
              <a:rPr lang="en-US" sz="1400" dirty="0"/>
            </a:br>
            <a:r>
              <a:rPr lang="en-US" sz="1400" dirty="0"/>
              <a:t>Misleading “offline” states</a:t>
            </a:r>
          </a:p>
        </p:txBody>
      </p:sp>
    </p:spTree>
    <p:extLst>
      <p:ext uri="{BB962C8B-B14F-4D97-AF65-F5344CB8AC3E}">
        <p14:creationId xmlns:p14="http://schemas.microsoft.com/office/powerpoint/2010/main" val="1989932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6B474-3445-8893-5F04-7769744D550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BADBB9E-D8B1-6EAD-27A9-092660ACDE28}"/>
              </a:ext>
            </a:extLst>
          </p:cNvPr>
          <p:cNvSpPr>
            <a:spLocks noGrp="1"/>
          </p:cNvSpPr>
          <p:nvPr>
            <p:ph type="title"/>
          </p:nvPr>
        </p:nvSpPr>
        <p:spPr>
          <a:xfrm>
            <a:off x="630936" y="548639"/>
            <a:ext cx="3494314" cy="5719639"/>
          </a:xfrm>
        </p:spPr>
        <p:txBody>
          <a:bodyPr>
            <a:normAutofit/>
          </a:bodyPr>
          <a:lstStyle/>
          <a:p>
            <a:r>
              <a:rPr lang="en-US" sz="4000" dirty="0"/>
              <a:t>Common problems faced by customers (2)</a:t>
            </a:r>
          </a:p>
        </p:txBody>
      </p:sp>
      <p:sp>
        <p:nvSpPr>
          <p:cNvPr id="10" name="Content Placeholder 9">
            <a:extLst>
              <a:ext uri="{FF2B5EF4-FFF2-40B4-BE49-F238E27FC236}">
                <a16:creationId xmlns:a16="http://schemas.microsoft.com/office/drawing/2014/main" id="{F429E858-6EF7-037A-FB82-F83D982AD323}"/>
              </a:ext>
            </a:extLst>
          </p:cNvPr>
          <p:cNvSpPr>
            <a:spLocks noGrp="1"/>
          </p:cNvSpPr>
          <p:nvPr>
            <p:ph sz="quarter" idx="13"/>
          </p:nvPr>
        </p:nvSpPr>
        <p:spPr>
          <a:xfrm>
            <a:off x="4504268" y="549274"/>
            <a:ext cx="7315200" cy="5806440"/>
          </a:xfrm>
        </p:spPr>
        <p:txBody>
          <a:bodyPr vert="horz" lIns="91440" tIns="45720" rIns="91440" bIns="45720" rtlCol="0" anchor="t">
            <a:normAutofit fontScale="85000" lnSpcReduction="20000"/>
          </a:bodyPr>
          <a:lstStyle/>
          <a:p>
            <a:pPr marL="342900" indent="-342900">
              <a:buFont typeface="Arial" panose="020B0604020202020204" pitchFamily="34" charset="0"/>
              <a:buChar char="•"/>
            </a:pPr>
            <a:r>
              <a:rPr lang="en-US" b="1" dirty="0"/>
              <a:t>Email Problems</a:t>
            </a:r>
            <a:br>
              <a:rPr lang="en-US" b="1" dirty="0"/>
            </a:br>
            <a:r>
              <a:rPr lang="en-US" dirty="0"/>
              <a:t>Not receiving or sending emails</a:t>
            </a:r>
            <a:br>
              <a:rPr lang="en-US" dirty="0"/>
            </a:br>
            <a:r>
              <a:rPr lang="en-US" dirty="0"/>
              <a:t>Outlook configuration issues</a:t>
            </a:r>
            <a:br>
              <a:rPr lang="en-US" dirty="0"/>
            </a:br>
            <a:r>
              <a:rPr lang="en-US" dirty="0"/>
              <a:t>Sync problems across multiple devices</a:t>
            </a:r>
            <a:br>
              <a:rPr lang="en-US" dirty="0"/>
            </a:br>
            <a:r>
              <a:rPr lang="en-US" dirty="0"/>
              <a:t>Full mailboxes (common with school/work accounts)</a:t>
            </a:r>
          </a:p>
          <a:p>
            <a:pPr marL="342900" indent="-342900">
              <a:buFont typeface="Arial" panose="020B0604020202020204" pitchFamily="34" charset="0"/>
              <a:buChar char="•"/>
            </a:pPr>
            <a:r>
              <a:rPr lang="en-US" b="1" dirty="0"/>
              <a:t>Smart Home Connectivity Issues</a:t>
            </a:r>
            <a:br>
              <a:rPr lang="en-US" b="1" dirty="0"/>
            </a:br>
            <a:r>
              <a:rPr lang="en-US" dirty="0"/>
              <a:t>Devices dropping off the network</a:t>
            </a:r>
            <a:br>
              <a:rPr lang="en-US" dirty="0"/>
            </a:br>
            <a:r>
              <a:rPr lang="en-US" dirty="0"/>
              <a:t>IoT not linking to Wi-Fi extenders</a:t>
            </a:r>
            <a:br>
              <a:rPr lang="en-US" dirty="0"/>
            </a:br>
            <a:r>
              <a:rPr lang="en-US" dirty="0"/>
              <a:t>Poor security settings</a:t>
            </a:r>
            <a:br>
              <a:rPr lang="en-US" dirty="0"/>
            </a:br>
            <a:r>
              <a:rPr lang="en-US" dirty="0"/>
              <a:t>App or firmware problems</a:t>
            </a:r>
          </a:p>
          <a:p>
            <a:pPr marL="342900" indent="-342900">
              <a:buFont typeface="Arial" panose="020B0604020202020204" pitchFamily="34" charset="0"/>
              <a:buChar char="•"/>
            </a:pPr>
            <a:r>
              <a:rPr lang="en-US" b="1" dirty="0"/>
              <a:t>Backup Failures</a:t>
            </a:r>
            <a:br>
              <a:rPr lang="en-US" b="1" dirty="0"/>
            </a:br>
            <a:r>
              <a:rPr lang="en-US" dirty="0"/>
              <a:t>No backup strategy at all</a:t>
            </a:r>
            <a:br>
              <a:rPr lang="en-US" dirty="0"/>
            </a:br>
            <a:r>
              <a:rPr lang="en-US" dirty="0"/>
              <a:t>External drives not configured</a:t>
            </a:r>
            <a:br>
              <a:rPr lang="en-US" dirty="0"/>
            </a:br>
            <a:r>
              <a:rPr lang="en-US" dirty="0"/>
              <a:t>OneDrive/Google Drive sync issues</a:t>
            </a:r>
          </a:p>
          <a:p>
            <a:pPr marL="342900" indent="-342900">
              <a:buFont typeface="Arial" panose="020B0604020202020204" pitchFamily="34" charset="0"/>
              <a:buChar char="•"/>
            </a:pPr>
            <a:r>
              <a:rPr lang="en-US" b="1" dirty="0"/>
              <a:t>Malware &amp; Scam Pop-Ups</a:t>
            </a:r>
            <a:br>
              <a:rPr lang="en-US" b="1" dirty="0"/>
            </a:br>
            <a:r>
              <a:rPr lang="en-US" dirty="0"/>
              <a:t>Fake “Microsoft support” pop-ups</a:t>
            </a:r>
            <a:br>
              <a:rPr lang="en-US" dirty="0"/>
            </a:br>
            <a:r>
              <a:rPr lang="en-US" dirty="0"/>
              <a:t>Browser hijacking</a:t>
            </a:r>
            <a:br>
              <a:rPr lang="en-US" dirty="0"/>
            </a:br>
            <a:r>
              <a:rPr lang="en-US" dirty="0"/>
              <a:t>Users tricked into giving remote access</a:t>
            </a:r>
          </a:p>
          <a:p>
            <a:pPr marL="342900" indent="-342900">
              <a:buFont typeface="Arial" panose="020B0604020202020204" pitchFamily="34" charset="0"/>
              <a:buChar char="•"/>
            </a:pPr>
            <a:r>
              <a:rPr lang="en-US" b="1" dirty="0"/>
              <a:t>Unmonitored Networks</a:t>
            </a:r>
            <a:br>
              <a:rPr lang="en-US" b="1" dirty="0"/>
            </a:br>
            <a:r>
              <a:rPr lang="en-US" dirty="0"/>
              <a:t>No proactive alerts</a:t>
            </a:r>
            <a:br>
              <a:rPr lang="en-US" dirty="0"/>
            </a:br>
            <a:r>
              <a:rPr lang="en-US" dirty="0"/>
              <a:t>No view of CPU/memory/storage trends</a:t>
            </a:r>
            <a:br>
              <a:rPr lang="en-US" dirty="0"/>
            </a:br>
            <a:r>
              <a:rPr lang="en-US" dirty="0"/>
              <a:t>Problems only discovered </a:t>
            </a:r>
            <a:r>
              <a:rPr lang="en-US" i="1" dirty="0"/>
              <a:t>after</a:t>
            </a:r>
            <a:r>
              <a:rPr lang="en-US" dirty="0"/>
              <a:t> failure</a:t>
            </a:r>
            <a:br>
              <a:rPr lang="en-US" dirty="0"/>
            </a:br>
            <a:r>
              <a:rPr lang="en-US" dirty="0"/>
              <a:t>Leads to downtime and costly repairs</a:t>
            </a:r>
          </a:p>
        </p:txBody>
      </p:sp>
    </p:spTree>
    <p:extLst>
      <p:ext uri="{BB962C8B-B14F-4D97-AF65-F5344CB8AC3E}">
        <p14:creationId xmlns:p14="http://schemas.microsoft.com/office/powerpoint/2010/main" val="1157259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72092-1D93-1C42-71C9-4C3CD1035FA3}"/>
              </a:ext>
            </a:extLst>
          </p:cNvPr>
          <p:cNvSpPr>
            <a:spLocks noGrp="1"/>
          </p:cNvSpPr>
          <p:nvPr>
            <p:ph type="title"/>
          </p:nvPr>
        </p:nvSpPr>
        <p:spPr>
          <a:xfrm>
            <a:off x="612647" y="548640"/>
            <a:ext cx="10966705" cy="1132258"/>
          </a:xfrm>
        </p:spPr>
        <p:txBody>
          <a:bodyPr/>
          <a:lstStyle/>
          <a:p>
            <a:r>
              <a:rPr lang="en-US" dirty="0"/>
              <a:t>Service Pricing Models</a:t>
            </a:r>
          </a:p>
        </p:txBody>
      </p:sp>
      <p:sp>
        <p:nvSpPr>
          <p:cNvPr id="4" name="Content Placeholder 3">
            <a:extLst>
              <a:ext uri="{FF2B5EF4-FFF2-40B4-BE49-F238E27FC236}">
                <a16:creationId xmlns:a16="http://schemas.microsoft.com/office/drawing/2014/main" id="{881423D3-83B4-3651-BAFA-F1F8F1A28817}"/>
              </a:ext>
            </a:extLst>
          </p:cNvPr>
          <p:cNvSpPr>
            <a:spLocks noGrp="1"/>
          </p:cNvSpPr>
          <p:nvPr>
            <p:ph idx="1"/>
          </p:nvPr>
        </p:nvSpPr>
        <p:spPr/>
        <p:txBody>
          <a:bodyPr>
            <a:normAutofit/>
          </a:bodyPr>
          <a:lstStyle/>
          <a:p>
            <a:pPr marL="0" indent="0" algn="just">
              <a:buNone/>
            </a:pPr>
            <a:r>
              <a:rPr lang="en-US" b="1" dirty="0"/>
              <a:t>⭐ 1. Individual Support Package</a:t>
            </a:r>
          </a:p>
          <a:p>
            <a:pPr marL="0" indent="0" algn="just">
              <a:buNone/>
            </a:pPr>
            <a:r>
              <a:rPr lang="en-US" b="1" dirty="0"/>
              <a:t>🏠 2. Home Office Support Package </a:t>
            </a:r>
            <a:r>
              <a:rPr lang="en-US" b="1" i="1" dirty="0"/>
              <a:t>(Most Popular)</a:t>
            </a:r>
          </a:p>
          <a:p>
            <a:pPr marL="0" indent="0" algn="just">
              <a:buNone/>
            </a:pPr>
            <a:r>
              <a:rPr lang="en-US" b="1"/>
              <a:t>🏢 </a:t>
            </a:r>
            <a:r>
              <a:rPr lang="en-US" b="1" dirty="0"/>
              <a:t>3. Small Business IT Care Plan</a:t>
            </a:r>
          </a:p>
        </p:txBody>
      </p:sp>
    </p:spTree>
    <p:extLst>
      <p:ext uri="{BB962C8B-B14F-4D97-AF65-F5344CB8AC3E}">
        <p14:creationId xmlns:p14="http://schemas.microsoft.com/office/powerpoint/2010/main" val="1135043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B5E30-E230-3AC0-FC8F-219DB0801D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4A9DC-556F-6E3F-3570-D210F7922896}"/>
              </a:ext>
            </a:extLst>
          </p:cNvPr>
          <p:cNvSpPr>
            <a:spLocks noGrp="1"/>
          </p:cNvSpPr>
          <p:nvPr>
            <p:ph type="title"/>
          </p:nvPr>
        </p:nvSpPr>
        <p:spPr>
          <a:xfrm>
            <a:off x="612647" y="548640"/>
            <a:ext cx="10966705" cy="1132258"/>
          </a:xfrm>
        </p:spPr>
        <p:txBody>
          <a:bodyPr/>
          <a:lstStyle/>
          <a:p>
            <a:r>
              <a:rPr lang="en-US" b="1" dirty="0"/>
              <a:t>Individual Support Package</a:t>
            </a:r>
          </a:p>
        </p:txBody>
      </p:sp>
      <p:sp>
        <p:nvSpPr>
          <p:cNvPr id="4" name="Content Placeholder 3">
            <a:extLst>
              <a:ext uri="{FF2B5EF4-FFF2-40B4-BE49-F238E27FC236}">
                <a16:creationId xmlns:a16="http://schemas.microsoft.com/office/drawing/2014/main" id="{955BC445-A2F5-1642-58DA-F31A65D946E6}"/>
              </a:ext>
            </a:extLst>
          </p:cNvPr>
          <p:cNvSpPr>
            <a:spLocks noGrp="1"/>
          </p:cNvSpPr>
          <p:nvPr>
            <p:ph idx="1"/>
          </p:nvPr>
        </p:nvSpPr>
        <p:spPr>
          <a:xfrm>
            <a:off x="612648" y="2012950"/>
            <a:ext cx="7793416" cy="4296410"/>
          </a:xfrm>
        </p:spPr>
        <p:txBody>
          <a:bodyPr>
            <a:normAutofit/>
          </a:bodyPr>
          <a:lstStyle/>
          <a:p>
            <a:pPr marL="0" indent="0">
              <a:buNone/>
            </a:pPr>
            <a:r>
              <a:rPr lang="en-US" dirty="0"/>
              <a:t>Perfect for students, remote workers, and everyday home users who just need reliable help.</a:t>
            </a:r>
          </a:p>
          <a:p>
            <a:r>
              <a:rPr lang="en-US" b="1" dirty="0"/>
              <a:t>📌 Features</a:t>
            </a:r>
            <a:endParaRPr lang="en-US" dirty="0"/>
          </a:p>
          <a:p>
            <a:r>
              <a:rPr lang="en-US" dirty="0"/>
              <a:t>PC/Laptop health check</a:t>
            </a:r>
          </a:p>
          <a:p>
            <a:r>
              <a:rPr lang="en-US" dirty="0"/>
              <a:t>Virus/malware removal</a:t>
            </a:r>
          </a:p>
          <a:p>
            <a:r>
              <a:rPr lang="en-US" dirty="0"/>
              <a:t>Software installation &amp; updates</a:t>
            </a:r>
          </a:p>
          <a:p>
            <a:r>
              <a:rPr lang="en-US" dirty="0"/>
              <a:t>Email setup &amp; troubleshooting</a:t>
            </a:r>
          </a:p>
          <a:p>
            <a:r>
              <a:rPr lang="en-US" dirty="0"/>
              <a:t>Wi-Fi </a:t>
            </a:r>
            <a:r>
              <a:rPr lang="en-US" dirty="0" err="1"/>
              <a:t>optimisation</a:t>
            </a:r>
            <a:endParaRPr lang="en-US" dirty="0"/>
          </a:p>
          <a:p>
            <a:r>
              <a:rPr lang="en-US" dirty="0"/>
              <a:t>Basic data backup setup</a:t>
            </a:r>
          </a:p>
          <a:p>
            <a:r>
              <a:rPr lang="en-US" dirty="0"/>
              <a:t>Remote support (up to 1 hour/month)</a:t>
            </a:r>
          </a:p>
        </p:txBody>
      </p:sp>
      <p:sp>
        <p:nvSpPr>
          <p:cNvPr id="8" name="TextBox 7">
            <a:extLst>
              <a:ext uri="{FF2B5EF4-FFF2-40B4-BE49-F238E27FC236}">
                <a16:creationId xmlns:a16="http://schemas.microsoft.com/office/drawing/2014/main" id="{7C8564BF-28C7-A497-42E6-2EE1345A8D59}"/>
              </a:ext>
            </a:extLst>
          </p:cNvPr>
          <p:cNvSpPr txBox="1"/>
          <p:nvPr/>
        </p:nvSpPr>
        <p:spPr>
          <a:xfrm>
            <a:off x="6574215" y="3560990"/>
            <a:ext cx="5005137" cy="923330"/>
          </a:xfrm>
          <a:prstGeom prst="rect">
            <a:avLst/>
          </a:prstGeom>
          <a:noFill/>
        </p:spPr>
        <p:txBody>
          <a:bodyPr wrap="square">
            <a:spAutoFit/>
          </a:bodyPr>
          <a:lstStyle/>
          <a:p>
            <a:r>
              <a:rPr lang="en-US" b="1" dirty="0"/>
              <a:t>💰 Price:</a:t>
            </a:r>
            <a:r>
              <a:rPr lang="en-US" dirty="0"/>
              <a:t> </a:t>
            </a:r>
            <a:r>
              <a:rPr lang="en-US" b="1" dirty="0"/>
              <a:t>R249/month</a:t>
            </a:r>
            <a:r>
              <a:rPr lang="en-US" dirty="0"/>
              <a:t> or </a:t>
            </a:r>
            <a:r>
              <a:rPr lang="en-US" b="1" dirty="0"/>
              <a:t>R399 once-off</a:t>
            </a:r>
            <a:br>
              <a:rPr lang="en-US" dirty="0"/>
            </a:br>
            <a:r>
              <a:rPr lang="en-US" b="1" dirty="0"/>
              <a:t>✔ Best For:</a:t>
            </a:r>
            <a:r>
              <a:rPr lang="en-US" dirty="0"/>
              <a:t> Individuals needing occasional support without big monthly commitments</a:t>
            </a:r>
          </a:p>
        </p:txBody>
      </p:sp>
    </p:spTree>
    <p:extLst>
      <p:ext uri="{BB962C8B-B14F-4D97-AF65-F5344CB8AC3E}">
        <p14:creationId xmlns:p14="http://schemas.microsoft.com/office/powerpoint/2010/main" val="1018842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52EC4-51BC-09CB-50AF-63A45B241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D105B-2768-FBAE-DAB9-D2F9049A76C4}"/>
              </a:ext>
            </a:extLst>
          </p:cNvPr>
          <p:cNvSpPr>
            <a:spLocks noGrp="1"/>
          </p:cNvSpPr>
          <p:nvPr>
            <p:ph type="title"/>
          </p:nvPr>
        </p:nvSpPr>
        <p:spPr>
          <a:xfrm>
            <a:off x="612647" y="548640"/>
            <a:ext cx="10966705" cy="1132258"/>
          </a:xfrm>
        </p:spPr>
        <p:txBody>
          <a:bodyPr/>
          <a:lstStyle/>
          <a:p>
            <a:r>
              <a:rPr lang="en-US" b="1" dirty="0"/>
              <a:t>Small Business IT Care Plan</a:t>
            </a:r>
          </a:p>
        </p:txBody>
      </p:sp>
      <p:sp>
        <p:nvSpPr>
          <p:cNvPr id="4" name="Content Placeholder 3">
            <a:extLst>
              <a:ext uri="{FF2B5EF4-FFF2-40B4-BE49-F238E27FC236}">
                <a16:creationId xmlns:a16="http://schemas.microsoft.com/office/drawing/2014/main" id="{176B9A37-9BFC-B381-E065-18B2E32979A5}"/>
              </a:ext>
            </a:extLst>
          </p:cNvPr>
          <p:cNvSpPr>
            <a:spLocks noGrp="1"/>
          </p:cNvSpPr>
          <p:nvPr>
            <p:ph idx="1"/>
          </p:nvPr>
        </p:nvSpPr>
        <p:spPr>
          <a:xfrm>
            <a:off x="612648" y="2012950"/>
            <a:ext cx="7793416" cy="4296410"/>
          </a:xfrm>
        </p:spPr>
        <p:txBody>
          <a:bodyPr>
            <a:normAutofit fontScale="85000" lnSpcReduction="10000"/>
          </a:bodyPr>
          <a:lstStyle/>
          <a:p>
            <a:pPr marL="0" indent="0">
              <a:buNone/>
            </a:pPr>
            <a:r>
              <a:rPr lang="en-US" dirty="0"/>
              <a:t>Designed for startups, small offices, and growing businesses needing dependable IT management.</a:t>
            </a:r>
          </a:p>
          <a:p>
            <a:r>
              <a:rPr lang="en-US" b="1" dirty="0"/>
              <a:t>📌 Features</a:t>
            </a:r>
            <a:endParaRPr lang="en-US" dirty="0"/>
          </a:p>
          <a:p>
            <a:r>
              <a:rPr lang="en-US" dirty="0"/>
              <a:t>Everything in Home Office package </a:t>
            </a:r>
            <a:r>
              <a:rPr lang="en-US" b="1" dirty="0"/>
              <a:t>PLUS</a:t>
            </a:r>
            <a:r>
              <a:rPr lang="en-US" dirty="0"/>
              <a:t>:</a:t>
            </a:r>
          </a:p>
          <a:p>
            <a:r>
              <a:rPr lang="en-US" dirty="0"/>
              <a:t>Full IT infrastructure assessment</a:t>
            </a:r>
          </a:p>
          <a:p>
            <a:r>
              <a:rPr lang="en-US" dirty="0"/>
              <a:t>Network &amp; security monitoring</a:t>
            </a:r>
          </a:p>
          <a:p>
            <a:r>
              <a:rPr lang="en-US" dirty="0" err="1"/>
              <a:t>Centralised</a:t>
            </a:r>
            <a:r>
              <a:rPr lang="en-US" dirty="0"/>
              <a:t> device management</a:t>
            </a:r>
          </a:p>
          <a:p>
            <a:r>
              <a:rPr lang="en-US" dirty="0"/>
              <a:t>SLA-backed support</a:t>
            </a:r>
          </a:p>
          <a:p>
            <a:r>
              <a:rPr lang="en-US" dirty="0"/>
              <a:t>Email/domain management</a:t>
            </a:r>
          </a:p>
          <a:p>
            <a:r>
              <a:rPr lang="en-US" dirty="0"/>
              <a:t>Shared drive &amp; backup strategy</a:t>
            </a:r>
          </a:p>
          <a:p>
            <a:r>
              <a:rPr lang="en-US" dirty="0"/>
              <a:t>On-site support (up to 4 hours/month)</a:t>
            </a:r>
          </a:p>
          <a:p>
            <a:r>
              <a:rPr lang="en-US" dirty="0"/>
              <a:t>Monthly reporting (uptime, security, performance)</a:t>
            </a:r>
          </a:p>
          <a:p>
            <a:r>
              <a:rPr lang="en-US" dirty="0"/>
              <a:t>Disaster recovery plan guidance</a:t>
            </a:r>
          </a:p>
        </p:txBody>
      </p:sp>
      <p:sp>
        <p:nvSpPr>
          <p:cNvPr id="8" name="TextBox 7">
            <a:extLst>
              <a:ext uri="{FF2B5EF4-FFF2-40B4-BE49-F238E27FC236}">
                <a16:creationId xmlns:a16="http://schemas.microsoft.com/office/drawing/2014/main" id="{29C5F601-EF89-37DD-50AE-443CA9C4F8A4}"/>
              </a:ext>
            </a:extLst>
          </p:cNvPr>
          <p:cNvSpPr txBox="1"/>
          <p:nvPr/>
        </p:nvSpPr>
        <p:spPr>
          <a:xfrm>
            <a:off x="6574215" y="3560990"/>
            <a:ext cx="5005137" cy="1477328"/>
          </a:xfrm>
          <a:prstGeom prst="rect">
            <a:avLst/>
          </a:prstGeom>
          <a:noFill/>
        </p:spPr>
        <p:txBody>
          <a:bodyPr wrap="square">
            <a:spAutoFit/>
          </a:bodyPr>
          <a:lstStyle/>
          <a:p>
            <a:r>
              <a:rPr lang="en-US" b="1" dirty="0"/>
              <a:t>💰 Price:</a:t>
            </a:r>
            <a:r>
              <a:rPr lang="en-US" dirty="0"/>
              <a:t> </a:t>
            </a:r>
            <a:r>
              <a:rPr lang="en-US" b="1" dirty="0"/>
              <a:t>R1,499/month</a:t>
            </a:r>
            <a:r>
              <a:rPr lang="en-US" dirty="0"/>
              <a:t> (up to 10 devices)</a:t>
            </a:r>
          </a:p>
          <a:p>
            <a:r>
              <a:rPr lang="en-US" b="1" dirty="0"/>
              <a:t>R99 per additional device</a:t>
            </a:r>
            <a:br>
              <a:rPr lang="en-US" dirty="0"/>
            </a:br>
            <a:r>
              <a:rPr lang="en-US" b="1" dirty="0"/>
              <a:t>✔ Best For:</a:t>
            </a:r>
            <a:r>
              <a:rPr lang="en-US" dirty="0"/>
              <a:t> Businesses that need proactive support, improved uptime, and a stable IT foundation.</a:t>
            </a:r>
          </a:p>
        </p:txBody>
      </p:sp>
    </p:spTree>
    <p:extLst>
      <p:ext uri="{BB962C8B-B14F-4D97-AF65-F5344CB8AC3E}">
        <p14:creationId xmlns:p14="http://schemas.microsoft.com/office/powerpoint/2010/main" val="88456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59946-AD2F-B77B-1E20-A149AD664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EDAE7-2C67-057D-8824-653BB6C2BCB4}"/>
              </a:ext>
            </a:extLst>
          </p:cNvPr>
          <p:cNvSpPr>
            <a:spLocks noGrp="1"/>
          </p:cNvSpPr>
          <p:nvPr>
            <p:ph type="title"/>
          </p:nvPr>
        </p:nvSpPr>
        <p:spPr>
          <a:xfrm>
            <a:off x="612647" y="548640"/>
            <a:ext cx="10966705" cy="1132258"/>
          </a:xfrm>
        </p:spPr>
        <p:txBody>
          <a:bodyPr/>
          <a:lstStyle/>
          <a:p>
            <a:r>
              <a:rPr lang="en-US" b="1" dirty="0"/>
              <a:t>Home Office Support Package (Most Popular)</a:t>
            </a:r>
          </a:p>
        </p:txBody>
      </p:sp>
      <p:sp>
        <p:nvSpPr>
          <p:cNvPr id="4" name="Content Placeholder 3">
            <a:extLst>
              <a:ext uri="{FF2B5EF4-FFF2-40B4-BE49-F238E27FC236}">
                <a16:creationId xmlns:a16="http://schemas.microsoft.com/office/drawing/2014/main" id="{E654E39A-6BD5-93A3-CDFF-BAACC79B13B5}"/>
              </a:ext>
            </a:extLst>
          </p:cNvPr>
          <p:cNvSpPr>
            <a:spLocks noGrp="1"/>
          </p:cNvSpPr>
          <p:nvPr>
            <p:ph idx="1"/>
          </p:nvPr>
        </p:nvSpPr>
        <p:spPr>
          <a:xfrm>
            <a:off x="612648" y="2012950"/>
            <a:ext cx="7793416" cy="4296410"/>
          </a:xfrm>
        </p:spPr>
        <p:txBody>
          <a:bodyPr>
            <a:normAutofit fontScale="92500" lnSpcReduction="10000"/>
          </a:bodyPr>
          <a:lstStyle/>
          <a:p>
            <a:pPr marL="0" indent="0">
              <a:buNone/>
            </a:pPr>
            <a:r>
              <a:rPr lang="en-US" dirty="0"/>
              <a:t>Made for freelancers, hybrid workers and home-based businesses in Durbanville.</a:t>
            </a:r>
          </a:p>
          <a:p>
            <a:r>
              <a:rPr lang="en-US" b="1" dirty="0"/>
              <a:t>📌 Features</a:t>
            </a:r>
            <a:endParaRPr lang="en-US" dirty="0"/>
          </a:p>
          <a:p>
            <a:r>
              <a:rPr lang="en-US" dirty="0"/>
              <a:t>Everything in the Individual package </a:t>
            </a:r>
            <a:r>
              <a:rPr lang="en-US" b="1" dirty="0"/>
              <a:t>PLUS</a:t>
            </a:r>
            <a:r>
              <a:rPr lang="en-US" dirty="0"/>
              <a:t>:</a:t>
            </a:r>
          </a:p>
          <a:p>
            <a:r>
              <a:rPr lang="en-US" dirty="0"/>
              <a:t>Full Home Office Network audit</a:t>
            </a:r>
          </a:p>
          <a:p>
            <a:r>
              <a:rPr lang="en-US" dirty="0"/>
              <a:t>Router </a:t>
            </a:r>
            <a:r>
              <a:rPr lang="en-US" dirty="0" err="1"/>
              <a:t>optimisation</a:t>
            </a:r>
            <a:r>
              <a:rPr lang="en-US" dirty="0"/>
              <a:t> &amp; Wi-Fi mapping</a:t>
            </a:r>
          </a:p>
          <a:p>
            <a:r>
              <a:rPr lang="en-US" dirty="0"/>
              <a:t>Printer installation &amp; network configuration</a:t>
            </a:r>
          </a:p>
          <a:p>
            <a:r>
              <a:rPr lang="en-US" dirty="0"/>
              <a:t>Microsoft 365/Google Workspace configuration</a:t>
            </a:r>
          </a:p>
          <a:p>
            <a:r>
              <a:rPr lang="en-US" dirty="0"/>
              <a:t>Basic security hardening</a:t>
            </a:r>
          </a:p>
          <a:p>
            <a:r>
              <a:rPr lang="en-US" dirty="0"/>
              <a:t>24/7 monitoring on 1 device (optional add-on)</a:t>
            </a:r>
          </a:p>
          <a:p>
            <a:r>
              <a:rPr lang="en-US" dirty="0"/>
              <a:t>Remote support (up to 3 hours/month)</a:t>
            </a:r>
          </a:p>
          <a:p>
            <a:r>
              <a:rPr lang="en-US" dirty="0"/>
              <a:t>Priority response times</a:t>
            </a:r>
          </a:p>
        </p:txBody>
      </p:sp>
      <p:sp>
        <p:nvSpPr>
          <p:cNvPr id="8" name="TextBox 7">
            <a:extLst>
              <a:ext uri="{FF2B5EF4-FFF2-40B4-BE49-F238E27FC236}">
                <a16:creationId xmlns:a16="http://schemas.microsoft.com/office/drawing/2014/main" id="{66CD24E9-E99C-A827-FDD1-35BF020F129D}"/>
              </a:ext>
            </a:extLst>
          </p:cNvPr>
          <p:cNvSpPr txBox="1"/>
          <p:nvPr/>
        </p:nvSpPr>
        <p:spPr>
          <a:xfrm>
            <a:off x="6574215" y="3560990"/>
            <a:ext cx="5005137" cy="1200329"/>
          </a:xfrm>
          <a:prstGeom prst="rect">
            <a:avLst/>
          </a:prstGeom>
          <a:noFill/>
        </p:spPr>
        <p:txBody>
          <a:bodyPr wrap="square">
            <a:spAutoFit/>
          </a:bodyPr>
          <a:lstStyle/>
          <a:p>
            <a:r>
              <a:rPr lang="en-US" b="1" dirty="0"/>
              <a:t>💰 Price:</a:t>
            </a:r>
            <a:r>
              <a:rPr lang="en-US" dirty="0"/>
              <a:t> </a:t>
            </a:r>
            <a:r>
              <a:rPr lang="en-US" b="1" dirty="0"/>
              <a:t>R499/month</a:t>
            </a:r>
            <a:r>
              <a:rPr lang="en-US" dirty="0"/>
              <a:t> or </a:t>
            </a:r>
            <a:r>
              <a:rPr lang="en-US" b="1" dirty="0"/>
              <a:t>R999 once-off setup</a:t>
            </a:r>
            <a:br>
              <a:rPr lang="en-US" dirty="0"/>
            </a:br>
            <a:r>
              <a:rPr lang="en-US" b="1" dirty="0"/>
              <a:t>⭐ </a:t>
            </a:r>
            <a:r>
              <a:rPr lang="en-US" sz="1600" b="1" dirty="0"/>
              <a:t>Recommended</a:t>
            </a:r>
            <a:r>
              <a:rPr lang="en-US" b="1" dirty="0"/>
              <a:t>:</a:t>
            </a:r>
            <a:r>
              <a:rPr lang="en-US" dirty="0"/>
              <a:t> Ideal for professionals who rely on a stable home office setup to work efficiently every day.</a:t>
            </a:r>
          </a:p>
        </p:txBody>
      </p:sp>
    </p:spTree>
    <p:extLst>
      <p:ext uri="{BB962C8B-B14F-4D97-AF65-F5344CB8AC3E}">
        <p14:creationId xmlns:p14="http://schemas.microsoft.com/office/powerpoint/2010/main" val="1607968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10604-8505-28B1-54D8-26A4F38A9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54B94-C546-A115-61C1-7C7AA14F0C2A}"/>
              </a:ext>
            </a:extLst>
          </p:cNvPr>
          <p:cNvSpPr>
            <a:spLocks noGrp="1"/>
          </p:cNvSpPr>
          <p:nvPr>
            <p:ph type="title"/>
          </p:nvPr>
        </p:nvSpPr>
        <p:spPr>
          <a:xfrm>
            <a:off x="612647" y="548640"/>
            <a:ext cx="10966705" cy="1132258"/>
          </a:xfrm>
        </p:spPr>
        <p:txBody>
          <a:bodyPr/>
          <a:lstStyle/>
          <a:p>
            <a:r>
              <a:rPr lang="en-US" dirty="0"/>
              <a:t>Pricing Models</a:t>
            </a:r>
          </a:p>
        </p:txBody>
      </p:sp>
      <p:graphicFrame>
        <p:nvGraphicFramePr>
          <p:cNvPr id="7" name="Content Placeholder 6">
            <a:extLst>
              <a:ext uri="{FF2B5EF4-FFF2-40B4-BE49-F238E27FC236}">
                <a16:creationId xmlns:a16="http://schemas.microsoft.com/office/drawing/2014/main" id="{8168C02D-F380-0383-6700-8C389A2FD988}"/>
              </a:ext>
            </a:extLst>
          </p:cNvPr>
          <p:cNvGraphicFramePr>
            <a:graphicFrameLocks noGrp="1"/>
          </p:cNvGraphicFramePr>
          <p:nvPr>
            <p:ph idx="1"/>
            <p:extLst>
              <p:ext uri="{D42A27DB-BD31-4B8C-83A1-F6EECF244321}">
                <p14:modId xmlns:p14="http://schemas.microsoft.com/office/powerpoint/2010/main" val="2193140989"/>
              </p:ext>
            </p:extLst>
          </p:nvPr>
        </p:nvGraphicFramePr>
        <p:xfrm>
          <a:off x="272716" y="1130813"/>
          <a:ext cx="11646568" cy="5275760"/>
        </p:xfrm>
        <a:graphic>
          <a:graphicData uri="http://schemas.openxmlformats.org/drawingml/2006/table">
            <a:tbl>
              <a:tblPr firstRow="1" bandRow="1">
                <a:tableStyleId>{5940675A-B579-460E-94D1-54222C63F5DA}</a:tableStyleId>
              </a:tblPr>
              <a:tblGrid>
                <a:gridCol w="3593431">
                  <a:extLst>
                    <a:ext uri="{9D8B030D-6E8A-4147-A177-3AD203B41FA5}">
                      <a16:colId xmlns:a16="http://schemas.microsoft.com/office/drawing/2014/main" val="3168546316"/>
                    </a:ext>
                  </a:extLst>
                </a:gridCol>
                <a:gridCol w="4715774">
                  <a:extLst>
                    <a:ext uri="{9D8B030D-6E8A-4147-A177-3AD203B41FA5}">
                      <a16:colId xmlns:a16="http://schemas.microsoft.com/office/drawing/2014/main" val="968315987"/>
                    </a:ext>
                  </a:extLst>
                </a:gridCol>
                <a:gridCol w="3337363">
                  <a:extLst>
                    <a:ext uri="{9D8B030D-6E8A-4147-A177-3AD203B41FA5}">
                      <a16:colId xmlns:a16="http://schemas.microsoft.com/office/drawing/2014/main" val="1165874330"/>
                    </a:ext>
                  </a:extLst>
                </a:gridCol>
              </a:tblGrid>
              <a:tr h="283989">
                <a:tc>
                  <a:txBody>
                    <a:bodyPr/>
                    <a:lstStyle/>
                    <a:p>
                      <a:r>
                        <a:rPr lang="en-US" sz="1600" b="1" dirty="0">
                          <a:solidFill>
                            <a:schemeClr val="tx1"/>
                          </a:solidFill>
                        </a:rPr>
                        <a:t>Name</a:t>
                      </a:r>
                    </a:p>
                  </a:txBody>
                  <a:tcPr anchor="ctr"/>
                </a:tc>
                <a:tc>
                  <a:txBody>
                    <a:bodyPr/>
                    <a:lstStyle/>
                    <a:p>
                      <a:r>
                        <a:rPr lang="en-US" sz="1600" b="1" dirty="0">
                          <a:solidFill>
                            <a:schemeClr val="tx1"/>
                          </a:solidFill>
                        </a:rPr>
                        <a:t>Tailored for</a:t>
                      </a:r>
                    </a:p>
                  </a:txBody>
                  <a:tcPr anchor="ctr"/>
                </a:tc>
                <a:tc>
                  <a:txBody>
                    <a:bodyPr/>
                    <a:lstStyle/>
                    <a:p>
                      <a:r>
                        <a:rPr lang="en-US" sz="1600" b="1" dirty="0">
                          <a:solidFill>
                            <a:schemeClr val="tx1"/>
                          </a:solidFill>
                        </a:rPr>
                        <a:t>Price</a:t>
                      </a:r>
                    </a:p>
                  </a:txBody>
                  <a:tcPr anchor="ctr"/>
                </a:tc>
                <a:extLst>
                  <a:ext uri="{0D108BD9-81ED-4DB2-BD59-A6C34878D82A}">
                    <a16:rowId xmlns:a16="http://schemas.microsoft.com/office/drawing/2014/main" val="3364231172"/>
                  </a:ext>
                </a:extLst>
              </a:tr>
              <a:tr h="1112395">
                <a:tc>
                  <a:txBody>
                    <a:bodyPr/>
                    <a:lstStyle/>
                    <a:p>
                      <a:r>
                        <a:rPr lang="en-US" sz="1600" b="1" i="0" kern="1200" cap="all" baseline="0" dirty="0">
                          <a:solidFill>
                            <a:schemeClr val="tx1"/>
                          </a:solidFill>
                          <a:effectLst/>
                          <a:latin typeface="+mn-lt"/>
                          <a:ea typeface="+mn-ea"/>
                          <a:cs typeface="+mn-cs"/>
                        </a:rPr>
                        <a:t>Individual Support Package</a:t>
                      </a:r>
                      <a:endParaRPr lang="en-US" sz="1600" i="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Perfect for students, remote workers, and everyday home users who just need reliable help.</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 Price:</a:t>
                      </a:r>
                      <a:r>
                        <a:rPr lang="en-US" sz="1600" dirty="0"/>
                        <a:t> </a:t>
                      </a:r>
                      <a:r>
                        <a:rPr lang="en-US" sz="1600" b="1" dirty="0"/>
                        <a:t>R249/month</a:t>
                      </a:r>
                      <a:r>
                        <a:rPr lang="en-US" sz="1600" dirty="0"/>
                        <a:t> or </a:t>
                      </a:r>
                      <a:r>
                        <a:rPr lang="en-US" sz="1600" b="1" dirty="0"/>
                        <a:t>R399 once-off</a:t>
                      </a:r>
                      <a:br>
                        <a:rPr lang="en-US" sz="1600" dirty="0"/>
                      </a:br>
                      <a:r>
                        <a:rPr lang="en-US" sz="1600" b="1" dirty="0"/>
                        <a:t>✔ Best For:</a:t>
                      </a:r>
                      <a:r>
                        <a:rPr lang="en-US" sz="1600" dirty="0"/>
                        <a:t> Individuals needing occasional support without big monthly commitments</a:t>
                      </a:r>
                    </a:p>
                  </a:txBody>
                  <a:tcPr anchor="ctr"/>
                </a:tc>
                <a:extLst>
                  <a:ext uri="{0D108BD9-81ED-4DB2-BD59-A6C34878D82A}">
                    <a16:rowId xmlns:a16="http://schemas.microsoft.com/office/drawing/2014/main" val="3559441191"/>
                  </a:ext>
                </a:extLst>
              </a:tr>
              <a:tr h="1831520">
                <a:tc>
                  <a:txBody>
                    <a:bodyPr/>
                    <a:lstStyle/>
                    <a:p>
                      <a:r>
                        <a:rPr lang="en-US" sz="1600" b="1" i="0" kern="1200" cap="all" baseline="0" dirty="0">
                          <a:solidFill>
                            <a:schemeClr val="tx1"/>
                          </a:solidFill>
                          <a:effectLst/>
                          <a:latin typeface="+mn-lt"/>
                          <a:ea typeface="+mn-ea"/>
                          <a:cs typeface="+mn-cs"/>
                        </a:rPr>
                        <a:t>Small Business IT Care Plan</a:t>
                      </a:r>
                      <a:endParaRPr lang="en-US" sz="1600" i="0" dirty="0">
                        <a:solidFill>
                          <a:schemeClr val="tx1"/>
                        </a:solidFill>
                      </a:endParaRPr>
                    </a:p>
                  </a:txBody>
                  <a:tcPr anchor="ctr"/>
                </a:tc>
                <a:tc>
                  <a:txBody>
                    <a:bodyPr/>
                    <a:lstStyle/>
                    <a:p>
                      <a:pPr rtl="0" eaLnBrk="1" latinLnBrk="0" hangingPunct="1"/>
                      <a:r>
                        <a:rPr lang="en-US" sz="1600" kern="1200" dirty="0">
                          <a:solidFill>
                            <a:schemeClr val="tx1"/>
                          </a:solidFill>
                          <a:effectLst/>
                          <a:latin typeface="+mn-lt"/>
                          <a:ea typeface="+mn-ea"/>
                          <a:cs typeface="+mn-cs"/>
                        </a:rPr>
                        <a:t>Designed for startups, small offices, and growing businesses needing dependable IT management.</a:t>
                      </a:r>
                      <a:endParaRPr lang="en-US" sz="1600" dirty="0">
                        <a:effectLst/>
                      </a:endParaRPr>
                    </a:p>
                    <a:p>
                      <a:endParaRPr lang="en-US" sz="1600" dirty="0">
                        <a:solidFill>
                          <a:schemeClr val="tx1"/>
                        </a:solidFill>
                      </a:endParaRPr>
                    </a:p>
                  </a:txBody>
                  <a:tcPr anchor="ctr"/>
                </a:tc>
                <a:tc>
                  <a:txBody>
                    <a:bodyPr/>
                    <a:lstStyle/>
                    <a:p>
                      <a:r>
                        <a:rPr lang="en-US" sz="1600" b="1" dirty="0"/>
                        <a:t>💰 Price:</a:t>
                      </a:r>
                      <a:r>
                        <a:rPr lang="en-US" sz="1600" dirty="0"/>
                        <a:t> </a:t>
                      </a:r>
                      <a:r>
                        <a:rPr lang="en-US" sz="1600" b="1" dirty="0"/>
                        <a:t>R1,499/month</a:t>
                      </a:r>
                      <a:r>
                        <a:rPr lang="en-US" sz="1600" dirty="0"/>
                        <a:t> (up to 10 devices)</a:t>
                      </a:r>
                    </a:p>
                    <a:p>
                      <a:r>
                        <a:rPr lang="en-US" sz="1600" b="1" dirty="0"/>
                        <a:t>R99 per additional device</a:t>
                      </a:r>
                      <a:br>
                        <a:rPr lang="en-US" sz="1600" dirty="0"/>
                      </a:br>
                      <a:r>
                        <a:rPr lang="en-US" sz="1600" b="1" dirty="0"/>
                        <a:t>✔ Best For:</a:t>
                      </a:r>
                      <a:r>
                        <a:rPr lang="en-US" sz="1600" dirty="0"/>
                        <a:t> Businesses that need proactive support, improved uptime, and a stable IT foundation.</a:t>
                      </a:r>
                    </a:p>
                    <a:p>
                      <a:endParaRPr lang="en-US" sz="1600" dirty="0">
                        <a:solidFill>
                          <a:schemeClr val="tx1"/>
                        </a:solidFill>
                      </a:endParaRPr>
                    </a:p>
                  </a:txBody>
                  <a:tcPr anchor="ctr"/>
                </a:tc>
                <a:extLst>
                  <a:ext uri="{0D108BD9-81ED-4DB2-BD59-A6C34878D82A}">
                    <a16:rowId xmlns:a16="http://schemas.microsoft.com/office/drawing/2014/main" val="2510113245"/>
                  </a:ext>
                </a:extLst>
              </a:tr>
              <a:tr h="1469336">
                <a:tc>
                  <a:txBody>
                    <a:bodyPr/>
                    <a:lstStyle/>
                    <a:p>
                      <a:r>
                        <a:rPr lang="en-US" sz="1600" b="1" dirty="0"/>
                        <a:t>HOME OFICE SUPPORT PACKAGE (Most Popular)</a:t>
                      </a:r>
                      <a:endParaRPr lang="en-US" sz="1600" dirty="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mn-lt"/>
                          <a:ea typeface="+mn-ea"/>
                          <a:cs typeface="+mn-cs"/>
                        </a:rPr>
                        <a:t>Ideal for busy professionals, parents and the home office user</a:t>
                      </a:r>
                      <a:endParaRPr lang="en-US" sz="1600"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 Price:</a:t>
                      </a:r>
                      <a:r>
                        <a:rPr lang="en-US" sz="1600" dirty="0"/>
                        <a:t> </a:t>
                      </a:r>
                      <a:r>
                        <a:rPr lang="en-US" sz="1600" b="1" dirty="0"/>
                        <a:t>R499/month</a:t>
                      </a:r>
                      <a:r>
                        <a:rPr lang="en-US" sz="1600" dirty="0"/>
                        <a:t> or </a:t>
                      </a:r>
                      <a:r>
                        <a:rPr lang="en-US" sz="1600" b="1" dirty="0"/>
                        <a:t>R999 once-off setup</a:t>
                      </a:r>
                      <a:br>
                        <a:rPr lang="en-US" sz="1600" dirty="0"/>
                      </a:br>
                      <a:r>
                        <a:rPr lang="en-US" sz="1600" b="1" dirty="0"/>
                        <a:t>⭐ Recommended:</a:t>
                      </a:r>
                      <a:r>
                        <a:rPr lang="en-US" sz="1600" dirty="0"/>
                        <a:t> Ideal for professionals who rely on a stable home office setup to work efficiently every day.</a:t>
                      </a:r>
                    </a:p>
                    <a:p>
                      <a:endParaRPr lang="en-US" sz="1600" dirty="0">
                        <a:solidFill>
                          <a:schemeClr val="tx1"/>
                        </a:solidFill>
                      </a:endParaRPr>
                    </a:p>
                  </a:txBody>
                  <a:tcPr anchor="ctr"/>
                </a:tc>
                <a:extLst>
                  <a:ext uri="{0D108BD9-81ED-4DB2-BD59-A6C34878D82A}">
                    <a16:rowId xmlns:a16="http://schemas.microsoft.com/office/drawing/2014/main" val="718823933"/>
                  </a:ext>
                </a:extLst>
              </a:tr>
            </a:tbl>
          </a:graphicData>
        </a:graphic>
      </p:graphicFrame>
    </p:spTree>
    <p:extLst>
      <p:ext uri="{BB962C8B-B14F-4D97-AF65-F5344CB8AC3E}">
        <p14:creationId xmlns:p14="http://schemas.microsoft.com/office/powerpoint/2010/main" val="4157919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E62F-F757-97CA-69BF-74C05CF9577C}"/>
              </a:ext>
            </a:extLst>
          </p:cNvPr>
          <p:cNvSpPr>
            <a:spLocks noGrp="1"/>
          </p:cNvSpPr>
          <p:nvPr>
            <p:ph type="title"/>
          </p:nvPr>
        </p:nvSpPr>
        <p:spPr>
          <a:xfrm>
            <a:off x="630936" y="548640"/>
            <a:ext cx="10930128" cy="1132258"/>
          </a:xfrm>
        </p:spPr>
        <p:txBody>
          <a:bodyPr/>
          <a:lstStyle/>
          <a:p>
            <a:r>
              <a:rPr lang="en-US" dirty="0"/>
              <a:t>The cost of inaction</a:t>
            </a:r>
          </a:p>
        </p:txBody>
      </p:sp>
      <p:sp>
        <p:nvSpPr>
          <p:cNvPr id="3" name="Text Placeholder 2">
            <a:extLst>
              <a:ext uri="{FF2B5EF4-FFF2-40B4-BE49-F238E27FC236}">
                <a16:creationId xmlns:a16="http://schemas.microsoft.com/office/drawing/2014/main" id="{3F384BB1-16D4-8510-7BFE-056208DE469A}"/>
              </a:ext>
            </a:extLst>
          </p:cNvPr>
          <p:cNvSpPr>
            <a:spLocks noGrp="1"/>
          </p:cNvSpPr>
          <p:nvPr>
            <p:ph type="body" sz="quarter" idx="13"/>
          </p:nvPr>
        </p:nvSpPr>
        <p:spPr>
          <a:xfrm>
            <a:off x="630936" y="1825625"/>
            <a:ext cx="5181600" cy="4351338"/>
          </a:xfrm>
        </p:spPr>
        <p:txBody>
          <a:bodyPr/>
          <a:lstStyle/>
          <a:p>
            <a:pPr marL="0" indent="0">
              <a:buNone/>
            </a:pPr>
            <a:r>
              <a:rPr lang="en-US" b="1" dirty="0"/>
              <a:t>Outdated Technology</a:t>
            </a:r>
          </a:p>
          <a:p>
            <a:r>
              <a:rPr lang="en-US" dirty="0"/>
              <a:t>Could reduce efficiency if not managed correctly</a:t>
            </a:r>
          </a:p>
          <a:p>
            <a:pPr marL="0" indent="0">
              <a:buNone/>
            </a:pPr>
            <a:r>
              <a:rPr lang="en-US" b="1" dirty="0"/>
              <a:t>Mismanaged Assets</a:t>
            </a:r>
          </a:p>
          <a:p>
            <a:r>
              <a:rPr lang="en-US" dirty="0"/>
              <a:t>Outdated assets could cause security risks to the environment</a:t>
            </a:r>
          </a:p>
          <a:p>
            <a:pPr marL="0" indent="0">
              <a:buNone/>
            </a:pPr>
            <a:r>
              <a:rPr lang="en-US" b="1" dirty="0"/>
              <a:t>Service Alerts Unattended</a:t>
            </a:r>
          </a:p>
          <a:p>
            <a:r>
              <a:rPr lang="en-US" dirty="0"/>
              <a:t>Business critical services could be doomed if not proactively actioned</a:t>
            </a:r>
          </a:p>
        </p:txBody>
      </p:sp>
      <p:sp>
        <p:nvSpPr>
          <p:cNvPr id="4" name="Text Placeholder 3">
            <a:extLst>
              <a:ext uri="{FF2B5EF4-FFF2-40B4-BE49-F238E27FC236}">
                <a16:creationId xmlns:a16="http://schemas.microsoft.com/office/drawing/2014/main" id="{63E82616-224C-DC6E-0F91-81634111B576}"/>
              </a:ext>
            </a:extLst>
          </p:cNvPr>
          <p:cNvSpPr>
            <a:spLocks noGrp="1"/>
          </p:cNvSpPr>
          <p:nvPr>
            <p:ph type="body" sz="quarter" idx="14"/>
          </p:nvPr>
        </p:nvSpPr>
        <p:spPr>
          <a:xfrm>
            <a:off x="6379464" y="1825625"/>
            <a:ext cx="5181600" cy="4351338"/>
          </a:xfrm>
        </p:spPr>
        <p:txBody>
          <a:bodyPr/>
          <a:lstStyle/>
          <a:p>
            <a:pPr marL="0" indent="0">
              <a:buNone/>
            </a:pPr>
            <a:r>
              <a:rPr lang="en-US" b="1" dirty="0"/>
              <a:t>Addressing these issues promptly can help maintain a competitive edge and foster long-term success:</a:t>
            </a:r>
          </a:p>
          <a:p>
            <a:r>
              <a:rPr lang="en-US" dirty="0"/>
              <a:t>Enhances customer satisfaction.</a:t>
            </a:r>
          </a:p>
          <a:p>
            <a:r>
              <a:rPr lang="en-US" dirty="0"/>
              <a:t>Improves overall business resilience and adaptability.</a:t>
            </a:r>
          </a:p>
        </p:txBody>
      </p:sp>
    </p:spTree>
    <p:extLst>
      <p:ext uri="{BB962C8B-B14F-4D97-AF65-F5344CB8AC3E}">
        <p14:creationId xmlns:p14="http://schemas.microsoft.com/office/powerpoint/2010/main" val="166532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499839-9666-B983-B7D3-39DC6EED6675}"/>
              </a:ext>
            </a:extLst>
          </p:cNvPr>
          <p:cNvSpPr>
            <a:spLocks noGrp="1"/>
          </p:cNvSpPr>
          <p:nvPr>
            <p:ph type="title"/>
          </p:nvPr>
        </p:nvSpPr>
        <p:spPr>
          <a:xfrm>
            <a:off x="614363" y="1257300"/>
            <a:ext cx="10105774" cy="1724025"/>
          </a:xfrm>
        </p:spPr>
        <p:txBody>
          <a:bodyPr/>
          <a:lstStyle/>
          <a:p>
            <a:r>
              <a:rPr lang="en-US" dirty="0"/>
              <a:t>Let’s take business to the next level — Simple.</a:t>
            </a:r>
          </a:p>
        </p:txBody>
      </p:sp>
      <p:graphicFrame>
        <p:nvGraphicFramePr>
          <p:cNvPr id="9" name="Content Placeholder 8" descr="Flexible text blocks SmartArt graphic">
            <a:extLst>
              <a:ext uri="{FF2B5EF4-FFF2-40B4-BE49-F238E27FC236}">
                <a16:creationId xmlns:a16="http://schemas.microsoft.com/office/drawing/2014/main" id="{140DEF92-F7BA-09E3-90C5-D12983C4C956}"/>
              </a:ext>
            </a:extLst>
          </p:cNvPr>
          <p:cNvGraphicFramePr>
            <a:graphicFrameLocks noGrp="1"/>
          </p:cNvGraphicFramePr>
          <p:nvPr>
            <p:ph sz="quarter" idx="13"/>
            <p:extLst>
              <p:ext uri="{D42A27DB-BD31-4B8C-83A1-F6EECF244321}">
                <p14:modId xmlns:p14="http://schemas.microsoft.com/office/powerpoint/2010/main" val="3210889428"/>
              </p:ext>
            </p:extLst>
          </p:nvPr>
        </p:nvGraphicFramePr>
        <p:xfrm>
          <a:off x="612775" y="3677986"/>
          <a:ext cx="10890250" cy="2863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7945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01D7-435D-8E7D-53C0-66C0C37F5C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B28AED-625B-E804-C564-D56DF9C83E2E}"/>
              </a:ext>
            </a:extLst>
          </p:cNvPr>
          <p:cNvSpPr>
            <a:spLocks noGrp="1"/>
          </p:cNvSpPr>
          <p:nvPr>
            <p:ph type="title"/>
          </p:nvPr>
        </p:nvSpPr>
        <p:spPr/>
        <p:txBody>
          <a:bodyPr/>
          <a:lstStyle/>
          <a:p>
            <a:r>
              <a:rPr lang="en-US" dirty="0"/>
              <a:t>Quote</a:t>
            </a:r>
          </a:p>
        </p:txBody>
      </p:sp>
      <p:sp>
        <p:nvSpPr>
          <p:cNvPr id="6" name="Content Placeholder 5">
            <a:extLst>
              <a:ext uri="{FF2B5EF4-FFF2-40B4-BE49-F238E27FC236}">
                <a16:creationId xmlns:a16="http://schemas.microsoft.com/office/drawing/2014/main" id="{E5236CAB-BB4B-BDCA-63F6-F77BA904E53B}"/>
              </a:ext>
            </a:extLst>
          </p:cNvPr>
          <p:cNvSpPr>
            <a:spLocks noGrp="1"/>
          </p:cNvSpPr>
          <p:nvPr>
            <p:ph sz="quarter" idx="13"/>
          </p:nvPr>
        </p:nvSpPr>
        <p:spPr>
          <a:xfrm>
            <a:off x="4701540" y="852674"/>
            <a:ext cx="6704076" cy="5218942"/>
          </a:xfrm>
        </p:spPr>
        <p:txBody>
          <a:bodyPr anchor="b"/>
          <a:lstStyle/>
          <a:p>
            <a:r>
              <a:rPr lang="en-US" dirty="0"/>
              <a:t>Your success is our strategy. Let’s make it a reality.</a:t>
            </a:r>
          </a:p>
          <a:p>
            <a:r>
              <a:rPr lang="en-US" dirty="0"/>
              <a:t>Simple.</a:t>
            </a:r>
          </a:p>
        </p:txBody>
      </p:sp>
    </p:spTree>
    <p:extLst>
      <p:ext uri="{BB962C8B-B14F-4D97-AF65-F5344CB8AC3E}">
        <p14:creationId xmlns:p14="http://schemas.microsoft.com/office/powerpoint/2010/main" val="1403495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87EA-8BB3-79C6-656A-1A8ABD658D7E}"/>
              </a:ext>
            </a:extLst>
          </p:cNvPr>
          <p:cNvSpPr>
            <a:spLocks noGrp="1"/>
          </p:cNvSpPr>
          <p:nvPr>
            <p:ph type="ctrTitle"/>
          </p:nvPr>
        </p:nvSpPr>
        <p:spPr>
          <a:xfrm>
            <a:off x="630936" y="5218032"/>
            <a:ext cx="10932414" cy="786384"/>
          </a:xfrm>
        </p:spPr>
        <p:txBody>
          <a:bodyPr/>
          <a:lstStyle/>
          <a:p>
            <a:r>
              <a:rPr lang="en-US" dirty="0"/>
              <a:t>Q&amp;A</a:t>
            </a:r>
          </a:p>
        </p:txBody>
      </p:sp>
      <p:sp>
        <p:nvSpPr>
          <p:cNvPr id="3" name="Subtitle 2">
            <a:extLst>
              <a:ext uri="{FF2B5EF4-FFF2-40B4-BE49-F238E27FC236}">
                <a16:creationId xmlns:a16="http://schemas.microsoft.com/office/drawing/2014/main" id="{E61DF94A-DA27-1E29-408E-F5360E814FB0}"/>
              </a:ext>
            </a:extLst>
          </p:cNvPr>
          <p:cNvSpPr>
            <a:spLocks noGrp="1"/>
          </p:cNvSpPr>
          <p:nvPr>
            <p:ph type="subTitle" idx="1"/>
          </p:nvPr>
        </p:nvSpPr>
        <p:spPr>
          <a:xfrm>
            <a:off x="630936" y="5972629"/>
            <a:ext cx="10932414" cy="480373"/>
          </a:xfrm>
        </p:spPr>
        <p:txBody>
          <a:bodyPr/>
          <a:lstStyle/>
          <a:p>
            <a:r>
              <a:rPr lang="en-US" dirty="0"/>
              <a:t>We will now open the floor for questions.</a:t>
            </a:r>
          </a:p>
        </p:txBody>
      </p:sp>
      <p:sp>
        <p:nvSpPr>
          <p:cNvPr id="5" name="Picture Placeholder 4">
            <a:extLst>
              <a:ext uri="{FF2B5EF4-FFF2-40B4-BE49-F238E27FC236}">
                <a16:creationId xmlns:a16="http://schemas.microsoft.com/office/drawing/2014/main" id="{9E136583-C5EE-614A-C552-4396C786C506}"/>
              </a:ext>
            </a:extLst>
          </p:cNvPr>
          <p:cNvSpPr>
            <a:spLocks noGrp="1"/>
          </p:cNvSpPr>
          <p:nvPr>
            <p:ph type="pic" sz="quarter" idx="13"/>
          </p:nvPr>
        </p:nvSpPr>
        <p:spPr/>
        <p:txBody>
          <a:bodyPr/>
          <a:lstStyle/>
          <a:p>
            <a:endParaRPr lang="en-US"/>
          </a:p>
        </p:txBody>
      </p:sp>
    </p:spTree>
    <p:extLst>
      <p:ext uri="{BB962C8B-B14F-4D97-AF65-F5344CB8AC3E}">
        <p14:creationId xmlns:p14="http://schemas.microsoft.com/office/powerpoint/2010/main" val="3272732094"/>
      </p:ext>
    </p:extLst>
  </p:cSld>
  <p:clrMapOvr>
    <a:masterClrMapping/>
  </p:clrMapOvr>
</p:sld>
</file>

<file path=ppt/theme/theme1.xml><?xml version="1.0" encoding="utf-8"?>
<a:theme xmlns:a="http://schemas.openxmlformats.org/drawingml/2006/main" name="Refined Monochrome">
  <a:themeElements>
    <a:clrScheme name="Custom 57">
      <a:dk1>
        <a:srgbClr val="113D61"/>
      </a:dk1>
      <a:lt1>
        <a:srgbClr val="DCEBFF"/>
      </a:lt1>
      <a:dk2>
        <a:srgbClr val="000000"/>
      </a:dk2>
      <a:lt2>
        <a:srgbClr val="FFFFFF"/>
      </a:lt2>
      <a:accent1>
        <a:srgbClr val="3855B4"/>
      </a:accent1>
      <a:accent2>
        <a:srgbClr val="8E0000"/>
      </a:accent2>
      <a:accent3>
        <a:srgbClr val="DE0000"/>
      </a:accent3>
      <a:accent4>
        <a:srgbClr val="FFDCF2"/>
      </a:accent4>
      <a:accent5>
        <a:srgbClr val="DED2E3"/>
      </a:accent5>
      <a:accent6>
        <a:srgbClr val="F7F4F1"/>
      </a:accent6>
      <a:hlink>
        <a:srgbClr val="169C9A"/>
      </a:hlink>
      <a:folHlink>
        <a:srgbClr val="E15C3D"/>
      </a:folHlink>
    </a:clrScheme>
    <a:fontScheme name="Custom 23">
      <a:majorFont>
        <a:latin typeface="Bodoni MT"/>
        <a:ea typeface=""/>
        <a:cs typeface=""/>
      </a:majorFont>
      <a:minorFont>
        <a:latin typeface="Trade Gothic N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fined Monochrome_Sales Presentation_win32_LW_V3" id="{5CA088F4-77D6-4E20-827C-8AA84F124F2F}" vid="{4489657A-662E-4C81-B6D3-306CF5BE48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81A4212-02C6-475D-B332-DC5017D04534}">
  <ds:schemaRefs>
    <ds:schemaRef ds:uri="http://schemas.microsoft.com/sharepoint/v3/contenttype/forms"/>
  </ds:schemaRefs>
</ds:datastoreItem>
</file>

<file path=customXml/itemProps2.xml><?xml version="1.0" encoding="utf-8"?>
<ds:datastoreItem xmlns:ds="http://schemas.openxmlformats.org/officeDocument/2006/customXml" ds:itemID="{52BAF2CE-2C32-498E-B467-6C60C376794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2185BFC-6E97-4C88-9034-F2A7ED1C005E}">
  <ds:schemaRefs>
    <ds:schemaRef ds:uri="230e9df3-be65-4c73-a93b-d1236ebd677e"/>
    <ds:schemaRef ds:uri="http://purl.org/dc/elements/1.1/"/>
    <ds:schemaRef ds:uri="16c05727-aa75-4e4a-9b5f-8a80a1165891"/>
    <ds:schemaRef ds:uri="http://schemas.microsoft.com/sharepoint/v3"/>
    <ds:schemaRef ds:uri="http://www.w3.org/XML/1998/namespace"/>
    <ds:schemaRef ds:uri="http://purl.org/dc/dcmitype/"/>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71af3243-3dd4-4a8d-8c0d-dd76da1f02a5"/>
    <ds:schemaRef ds:uri="http://schemas.microsoft.com/office/2006/metadata/propertie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Refined monochrome sales presentation</Template>
  <TotalTime>125</TotalTime>
  <Words>1172</Words>
  <Application>Microsoft Office PowerPoint</Application>
  <PresentationFormat>Widescreen</PresentationFormat>
  <Paragraphs>120</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Bodoni MT</vt:lpstr>
      <vt:lpstr>Trade Gothic Next</vt:lpstr>
      <vt:lpstr>Refined Monochrome</vt:lpstr>
      <vt:lpstr>PowerPoint Presentation</vt:lpstr>
      <vt:lpstr>agenda</vt:lpstr>
      <vt:lpstr>Introduction</vt:lpstr>
      <vt:lpstr>Why d10 IT Solutions?</vt:lpstr>
      <vt:lpstr>Our Services</vt:lpstr>
      <vt:lpstr>Common problems faced by customers (1)</vt:lpstr>
      <vt:lpstr>Common problems faced by customers (2)</vt:lpstr>
      <vt:lpstr>Service Pricing Models</vt:lpstr>
      <vt:lpstr>Individual Support Package</vt:lpstr>
      <vt:lpstr>Small Business IT Care Plan</vt:lpstr>
      <vt:lpstr>Home Office Support Package (Most Popular)</vt:lpstr>
      <vt:lpstr>Pricing Models</vt:lpstr>
      <vt:lpstr>The cost of inaction</vt:lpstr>
      <vt:lpstr>Let’s take business to the next level — Simple.</vt:lpstr>
      <vt:lpstr>Quote</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Kyle Wessels</dc:creator>
  <cp:lastModifiedBy>Kyle Wessels</cp:lastModifiedBy>
  <cp:revision>23</cp:revision>
  <dcterms:created xsi:type="dcterms:W3CDTF">2025-12-08T17:06:43Z</dcterms:created>
  <dcterms:modified xsi:type="dcterms:W3CDTF">2025-12-09T04:18:15Z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